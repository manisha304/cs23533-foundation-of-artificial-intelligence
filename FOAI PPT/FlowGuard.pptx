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4" r:id="rId6"/>
    <p:sldId id="260" r:id="rId7"/>
    <p:sldId id="261" r:id="rId8"/>
    <p:sldId id="265" r:id="rId9"/>
    <p:sldId id="266" r:id="rId10"/>
    <p:sldId id="267" r:id="rId11"/>
    <p:sldId id="268" r:id="rId12"/>
    <p:sldId id="262" r:id="rId13"/>
    <p:sldId id="263" r:id="rId14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duction" id="{E403012A-86B2-3DF5-4757-68DAC2514DDB}">
          <p14:sldIdLst>
            <p14:sldId id="256"/>
            <p14:sldId id="257"/>
          </p14:sldIdLst>
        </p14:section>
        <p14:section name="Background" id="{BC4E9821-312D-12A4-6D9F-C3B546DE5563}">
          <p14:sldIdLst>
            <p14:sldId id="258"/>
            <p14:sldId id="259"/>
            <p14:sldId id="264"/>
          </p14:sldIdLst>
        </p14:section>
        <p14:section name="System" id="{940B84A6-E16C-CC2C-6076-7D291BE4662B}">
          <p14:sldIdLst>
            <p14:sldId id="260"/>
            <p14:sldId id="261"/>
            <p14:sldId id="265"/>
            <p14:sldId id="266"/>
            <p14:sldId id="267"/>
            <p14:sldId id="268"/>
          </p14:sldIdLst>
        </p14:section>
        <p14:section name="Wrap-up" id="{A0BCF882-EDEC-32B5-A367-2C67C396ECDD}">
          <p14:sldIdLst>
            <p14:sldId id="262"/>
            <p14:sldId id="263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>
        <p:scale>
          <a:sx n="75" d="100"/>
          <a:sy n="75" d="100"/>
        </p:scale>
        <p:origin x="946" y="2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20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ahesh waran" userId="75c10f28fe183948" providerId="LiveId" clId="{B714505B-5CD7-46CB-881F-2D31E2304A17}"/>
    <pc:docChg chg="undo custSel addSld delSld modSld modSection">
      <pc:chgData name="Mahesh waran" userId="75c10f28fe183948" providerId="LiveId" clId="{B714505B-5CD7-46CB-881F-2D31E2304A17}" dt="2026-10-08T07:18:23.782" v="94" actId="166"/>
      <pc:docMkLst>
        <pc:docMk/>
      </pc:docMkLst>
      <pc:sldChg chg="addSp delSp modSp mod">
        <pc:chgData name="Mahesh waran" userId="75c10f28fe183948" providerId="LiveId" clId="{B714505B-5CD7-46CB-881F-2D31E2304A17}" dt="2026-10-08T07:18:23.782" v="94" actId="166"/>
        <pc:sldMkLst>
          <pc:docMk/>
          <pc:sldMk cId="0" sldId="256"/>
        </pc:sldMkLst>
        <pc:spChg chg="del">
          <ac:chgData name="Mahesh waran" userId="75c10f28fe183948" providerId="LiveId" clId="{B714505B-5CD7-46CB-881F-2D31E2304A17}" dt="2026-10-08T07:11:14.663" v="76" actId="478"/>
          <ac:spMkLst>
            <pc:docMk/>
            <pc:sldMk cId="0" sldId="256"/>
            <ac:spMk id="2" creationId="{00000000-0000-0000-0000-000000000000}"/>
          </ac:spMkLst>
        </pc:spChg>
        <pc:spChg chg="del">
          <ac:chgData name="Mahesh waran" userId="75c10f28fe183948" providerId="LiveId" clId="{B714505B-5CD7-46CB-881F-2D31E2304A17}" dt="2026-10-08T07:11:14.663" v="76" actId="478"/>
          <ac:spMkLst>
            <pc:docMk/>
            <pc:sldMk cId="0" sldId="256"/>
            <ac:spMk id="3" creationId="{00000000-0000-0000-0000-000000000000}"/>
          </ac:spMkLst>
        </pc:spChg>
        <pc:spChg chg="del">
          <ac:chgData name="Mahesh waran" userId="75c10f28fe183948" providerId="LiveId" clId="{B714505B-5CD7-46CB-881F-2D31E2304A17}" dt="2026-10-08T07:11:09.450" v="75" actId="478"/>
          <ac:spMkLst>
            <pc:docMk/>
            <pc:sldMk cId="0" sldId="256"/>
            <ac:spMk id="6" creationId="{00000000-0000-0000-0000-000000000000}"/>
          </ac:spMkLst>
        </pc:spChg>
        <pc:spChg chg="del mod">
          <ac:chgData name="Mahesh waran" userId="75c10f28fe183948" providerId="LiveId" clId="{B714505B-5CD7-46CB-881F-2D31E2304A17}" dt="2026-10-08T07:11:19.094" v="77" actId="478"/>
          <ac:spMkLst>
            <pc:docMk/>
            <pc:sldMk cId="0" sldId="256"/>
            <ac:spMk id="7" creationId="{00000000-0000-0000-0000-000000000000}"/>
          </ac:spMkLst>
        </pc:spChg>
        <pc:spChg chg="del">
          <ac:chgData name="Mahesh waran" userId="75c10f28fe183948" providerId="LiveId" clId="{B714505B-5CD7-46CB-881F-2D31E2304A17}" dt="2026-10-08T07:11:14.663" v="76" actId="478"/>
          <ac:spMkLst>
            <pc:docMk/>
            <pc:sldMk cId="0" sldId="256"/>
            <ac:spMk id="8" creationId="{00000000-0000-0000-0000-000000000000}"/>
          </ac:spMkLst>
        </pc:spChg>
        <pc:spChg chg="del">
          <ac:chgData name="Mahesh waran" userId="75c10f28fe183948" providerId="LiveId" clId="{B714505B-5CD7-46CB-881F-2D31E2304A17}" dt="2026-10-08T07:11:19.094" v="77" actId="478"/>
          <ac:spMkLst>
            <pc:docMk/>
            <pc:sldMk cId="0" sldId="256"/>
            <ac:spMk id="10" creationId="{00000000-0000-0000-0000-000000000000}"/>
          </ac:spMkLst>
        </pc:spChg>
        <pc:spChg chg="del">
          <ac:chgData name="Mahesh waran" userId="75c10f28fe183948" providerId="LiveId" clId="{B714505B-5CD7-46CB-881F-2D31E2304A17}" dt="2026-10-08T07:11:14.663" v="76" actId="478"/>
          <ac:spMkLst>
            <pc:docMk/>
            <pc:sldMk cId="0" sldId="256"/>
            <ac:spMk id="14" creationId="{00000000-0000-0000-0000-000000000000}"/>
          </ac:spMkLst>
        </pc:spChg>
        <pc:spChg chg="del">
          <ac:chgData name="Mahesh waran" userId="75c10f28fe183948" providerId="LiveId" clId="{B714505B-5CD7-46CB-881F-2D31E2304A17}" dt="2026-10-08T07:11:14.663" v="76" actId="478"/>
          <ac:spMkLst>
            <pc:docMk/>
            <pc:sldMk cId="0" sldId="256"/>
            <ac:spMk id="15" creationId="{00000000-0000-0000-0000-000000000000}"/>
          </ac:spMkLst>
        </pc:spChg>
        <pc:spChg chg="del">
          <ac:chgData name="Mahesh waran" userId="75c10f28fe183948" providerId="LiveId" clId="{B714505B-5CD7-46CB-881F-2D31E2304A17}" dt="2026-10-08T07:11:14.663" v="76" actId="478"/>
          <ac:spMkLst>
            <pc:docMk/>
            <pc:sldMk cId="0" sldId="256"/>
            <ac:spMk id="17" creationId="{00000000-0000-0000-0000-000000000000}"/>
          </ac:spMkLst>
        </pc:spChg>
        <pc:spChg chg="del">
          <ac:chgData name="Mahesh waran" userId="75c10f28fe183948" providerId="LiveId" clId="{B714505B-5CD7-46CB-881F-2D31E2304A17}" dt="2026-10-08T07:11:14.663" v="76" actId="478"/>
          <ac:spMkLst>
            <pc:docMk/>
            <pc:sldMk cId="0" sldId="256"/>
            <ac:spMk id="18" creationId="{00000000-0000-0000-0000-000000000000}"/>
          </ac:spMkLst>
        </pc:spChg>
        <pc:spChg chg="del">
          <ac:chgData name="Mahesh waran" userId="75c10f28fe183948" providerId="LiveId" clId="{B714505B-5CD7-46CB-881F-2D31E2304A17}" dt="2026-10-08T07:11:14.663" v="76" actId="478"/>
          <ac:spMkLst>
            <pc:docMk/>
            <pc:sldMk cId="0" sldId="256"/>
            <ac:spMk id="19" creationId="{00000000-0000-0000-0000-000000000000}"/>
          </ac:spMkLst>
        </pc:spChg>
        <pc:spChg chg="del">
          <ac:chgData name="Mahesh waran" userId="75c10f28fe183948" providerId="LiveId" clId="{B714505B-5CD7-46CB-881F-2D31E2304A17}" dt="2026-10-08T07:11:19.094" v="77" actId="478"/>
          <ac:spMkLst>
            <pc:docMk/>
            <pc:sldMk cId="0" sldId="256"/>
            <ac:spMk id="22" creationId="{00000000-0000-0000-0000-000000000000}"/>
          </ac:spMkLst>
        </pc:spChg>
        <pc:spChg chg="del">
          <ac:chgData name="Mahesh waran" userId="75c10f28fe183948" providerId="LiveId" clId="{B714505B-5CD7-46CB-881F-2D31E2304A17}" dt="2026-10-08T07:11:14.663" v="76" actId="478"/>
          <ac:spMkLst>
            <pc:docMk/>
            <pc:sldMk cId="0" sldId="256"/>
            <ac:spMk id="23" creationId="{00000000-0000-0000-0000-000000000000}"/>
          </ac:spMkLst>
        </pc:spChg>
        <pc:spChg chg="del">
          <ac:chgData name="Mahesh waran" userId="75c10f28fe183948" providerId="LiveId" clId="{B714505B-5CD7-46CB-881F-2D31E2304A17}" dt="2026-10-08T07:11:14.663" v="76" actId="478"/>
          <ac:spMkLst>
            <pc:docMk/>
            <pc:sldMk cId="0" sldId="256"/>
            <ac:spMk id="25" creationId="{00000000-0000-0000-0000-000000000000}"/>
          </ac:spMkLst>
        </pc:spChg>
        <pc:spChg chg="del">
          <ac:chgData name="Mahesh waran" userId="75c10f28fe183948" providerId="LiveId" clId="{B714505B-5CD7-46CB-881F-2D31E2304A17}" dt="2026-10-08T07:11:19.094" v="77" actId="478"/>
          <ac:spMkLst>
            <pc:docMk/>
            <pc:sldMk cId="0" sldId="256"/>
            <ac:spMk id="26" creationId="{00000000-0000-0000-0000-000000000000}"/>
          </ac:spMkLst>
        </pc:spChg>
        <pc:spChg chg="del">
          <ac:chgData name="Mahesh waran" userId="75c10f28fe183948" providerId="LiveId" clId="{B714505B-5CD7-46CB-881F-2D31E2304A17}" dt="2026-10-08T07:11:19.094" v="77" actId="478"/>
          <ac:spMkLst>
            <pc:docMk/>
            <pc:sldMk cId="0" sldId="256"/>
            <ac:spMk id="27" creationId="{00000000-0000-0000-0000-000000000000}"/>
          </ac:spMkLst>
        </pc:spChg>
        <pc:spChg chg="mod">
          <ac:chgData name="Mahesh waran" userId="75c10f28fe183948" providerId="LiveId" clId="{B714505B-5CD7-46CB-881F-2D31E2304A17}" dt="2026-10-08T07:17:45.315" v="88" actId="14100"/>
          <ac:spMkLst>
            <pc:docMk/>
            <pc:sldMk cId="0" sldId="256"/>
            <ac:spMk id="28" creationId="{00000000-0000-0000-0000-000000000000}"/>
          </ac:spMkLst>
        </pc:spChg>
        <pc:spChg chg="mod">
          <ac:chgData name="Mahesh waran" userId="75c10f28fe183948" providerId="LiveId" clId="{B714505B-5CD7-46CB-881F-2D31E2304A17}" dt="2026-10-08T07:17:53.738" v="89" actId="1076"/>
          <ac:spMkLst>
            <pc:docMk/>
            <pc:sldMk cId="0" sldId="256"/>
            <ac:spMk id="29" creationId="{00000000-0000-0000-0000-000000000000}"/>
          </ac:spMkLst>
        </pc:spChg>
        <pc:spChg chg="mod">
          <ac:chgData name="Mahesh waran" userId="75c10f28fe183948" providerId="LiveId" clId="{B714505B-5CD7-46CB-881F-2D31E2304A17}" dt="2026-10-08T07:18:00.051" v="90" actId="1076"/>
          <ac:spMkLst>
            <pc:docMk/>
            <pc:sldMk cId="0" sldId="256"/>
            <ac:spMk id="30" creationId="{00000000-0000-0000-0000-000000000000}"/>
          </ac:spMkLst>
        </pc:spChg>
        <pc:picChg chg="add mod">
          <ac:chgData name="Mahesh waran" userId="75c10f28fe183948" providerId="LiveId" clId="{B714505B-5CD7-46CB-881F-2D31E2304A17}" dt="2026-10-08T07:18:23.782" v="94" actId="166"/>
          <ac:picMkLst>
            <pc:docMk/>
            <pc:sldMk cId="0" sldId="256"/>
            <ac:picMk id="1026" creationId="{07D3C140-1543-CA86-FC44-D16A9DCE743A}"/>
          </ac:picMkLst>
        </pc:picChg>
      </pc:sldChg>
      <pc:sldChg chg="addSp modSp new mod">
        <pc:chgData name="Mahesh waran" userId="75c10f28fe183948" providerId="LiveId" clId="{B714505B-5CD7-46CB-881F-2D31E2304A17}" dt="2026-10-08T07:04:33.482" v="23" actId="14100"/>
        <pc:sldMkLst>
          <pc:docMk/>
          <pc:sldMk cId="25989422" sldId="264"/>
        </pc:sldMkLst>
        <pc:spChg chg="mod">
          <ac:chgData name="Mahesh waran" userId="75c10f28fe183948" providerId="LiveId" clId="{B714505B-5CD7-46CB-881F-2D31E2304A17}" dt="2026-10-08T07:03:49.933" v="19" actId="20577"/>
          <ac:spMkLst>
            <pc:docMk/>
            <pc:sldMk cId="25989422" sldId="264"/>
            <ac:spMk id="2" creationId="{05989229-CF14-893D-B32D-10120AD57820}"/>
          </ac:spMkLst>
        </pc:spChg>
        <pc:spChg chg="add mod">
          <ac:chgData name="Mahesh waran" userId="75c10f28fe183948" providerId="LiveId" clId="{B714505B-5CD7-46CB-881F-2D31E2304A17}" dt="2026-10-08T07:04:33.482" v="23" actId="14100"/>
          <ac:spMkLst>
            <pc:docMk/>
            <pc:sldMk cId="25989422" sldId="264"/>
            <ac:spMk id="5" creationId="{605A8FD4-F481-421F-9385-77CCB0A018A3}"/>
          </ac:spMkLst>
        </pc:spChg>
        <pc:picChg chg="add mod">
          <ac:chgData name="Mahesh waran" userId="75c10f28fe183948" providerId="LiveId" clId="{B714505B-5CD7-46CB-881F-2D31E2304A17}" dt="2026-10-08T07:04:06.028" v="21" actId="14100"/>
          <ac:picMkLst>
            <pc:docMk/>
            <pc:sldMk cId="25989422" sldId="264"/>
            <ac:picMk id="4" creationId="{C421A001-CB43-7B57-487B-434C1561DD09}"/>
          </ac:picMkLst>
        </pc:picChg>
      </pc:sldChg>
      <pc:sldChg chg="new del">
        <pc:chgData name="Mahesh waran" userId="75c10f28fe183948" providerId="LiveId" clId="{B714505B-5CD7-46CB-881F-2D31E2304A17}" dt="2026-10-08T07:04:49.017" v="25" actId="680"/>
        <pc:sldMkLst>
          <pc:docMk/>
          <pc:sldMk cId="1825816368" sldId="265"/>
        </pc:sldMkLst>
      </pc:sldChg>
      <pc:sldChg chg="addSp modSp new mod">
        <pc:chgData name="Mahesh waran" userId="75c10f28fe183948" providerId="LiveId" clId="{B714505B-5CD7-46CB-881F-2D31E2304A17}" dt="2026-10-08T07:10:47.840" v="74" actId="14100"/>
        <pc:sldMkLst>
          <pc:docMk/>
          <pc:sldMk cId="3732295465" sldId="265"/>
        </pc:sldMkLst>
        <pc:spChg chg="mod">
          <ac:chgData name="Mahesh waran" userId="75c10f28fe183948" providerId="LiveId" clId="{B714505B-5CD7-46CB-881F-2D31E2304A17}" dt="2026-10-08T07:06:18.406" v="38" actId="14100"/>
          <ac:spMkLst>
            <pc:docMk/>
            <pc:sldMk cId="3732295465" sldId="265"/>
            <ac:spMk id="2" creationId="{610DA814-0334-8E46-DB35-A6335BF3812D}"/>
          </ac:spMkLst>
        </pc:spChg>
        <pc:spChg chg="add mod">
          <ac:chgData name="Mahesh waran" userId="75c10f28fe183948" providerId="LiveId" clId="{B714505B-5CD7-46CB-881F-2D31E2304A17}" dt="2026-10-08T07:06:23.588" v="39" actId="14100"/>
          <ac:spMkLst>
            <pc:docMk/>
            <pc:sldMk cId="3732295465" sldId="265"/>
            <ac:spMk id="3" creationId="{B60D1D1C-4B37-F27A-7D8A-808F5114A10B}"/>
          </ac:spMkLst>
        </pc:spChg>
        <pc:picChg chg="add mod">
          <ac:chgData name="Mahesh waran" userId="75c10f28fe183948" providerId="LiveId" clId="{B714505B-5CD7-46CB-881F-2D31E2304A17}" dt="2026-10-08T07:10:47.840" v="74" actId="14100"/>
          <ac:picMkLst>
            <pc:docMk/>
            <pc:sldMk cId="3732295465" sldId="265"/>
            <ac:picMk id="5" creationId="{65BFFC7C-34B1-F5FD-69B1-F919E9073A49}"/>
          </ac:picMkLst>
        </pc:picChg>
      </pc:sldChg>
      <pc:sldChg chg="addSp delSp modSp new mod">
        <pc:chgData name="Mahesh waran" userId="75c10f28fe183948" providerId="LiveId" clId="{B714505B-5CD7-46CB-881F-2D31E2304A17}" dt="2026-10-08T07:07:44.050" v="51" actId="167"/>
        <pc:sldMkLst>
          <pc:docMk/>
          <pc:sldMk cId="3934939648" sldId="266"/>
        </pc:sldMkLst>
        <pc:spChg chg="add del mod">
          <ac:chgData name="Mahesh waran" userId="75c10f28fe183948" providerId="LiveId" clId="{B714505B-5CD7-46CB-881F-2D31E2304A17}" dt="2026-10-08T07:07:29.122" v="48"/>
          <ac:spMkLst>
            <pc:docMk/>
            <pc:sldMk cId="3934939648" sldId="266"/>
            <ac:spMk id="2" creationId="{505AB120-B69A-0DAD-8AFE-CE6150CE8F72}"/>
          </ac:spMkLst>
        </pc:spChg>
        <pc:picChg chg="add mod">
          <ac:chgData name="Mahesh waran" userId="75c10f28fe183948" providerId="LiveId" clId="{B714505B-5CD7-46CB-881F-2D31E2304A17}" dt="2026-10-08T07:06:58.238" v="45" actId="14100"/>
          <ac:picMkLst>
            <pc:docMk/>
            <pc:sldMk cId="3934939648" sldId="266"/>
            <ac:picMk id="4" creationId="{6199B548-E50A-96DB-D945-132DA2EC3470}"/>
          </ac:picMkLst>
        </pc:picChg>
        <pc:picChg chg="add mod ord">
          <ac:chgData name="Mahesh waran" userId="75c10f28fe183948" providerId="LiveId" clId="{B714505B-5CD7-46CB-881F-2D31E2304A17}" dt="2026-10-08T07:07:44.050" v="51" actId="167"/>
          <ac:picMkLst>
            <pc:docMk/>
            <pc:sldMk cId="3934939648" sldId="266"/>
            <ac:picMk id="6" creationId="{DF398459-1014-62E9-73C8-8A91FECE642D}"/>
          </ac:picMkLst>
        </pc:picChg>
      </pc:sldChg>
      <pc:sldChg chg="addSp modSp new mod">
        <pc:chgData name="Mahesh waran" userId="75c10f28fe183948" providerId="LiveId" clId="{B714505B-5CD7-46CB-881F-2D31E2304A17}" dt="2026-10-08T07:08:56.382" v="66" actId="14100"/>
        <pc:sldMkLst>
          <pc:docMk/>
          <pc:sldMk cId="2985564864" sldId="267"/>
        </pc:sldMkLst>
        <pc:spChg chg="mod">
          <ac:chgData name="Mahesh waran" userId="75c10f28fe183948" providerId="LiveId" clId="{B714505B-5CD7-46CB-881F-2D31E2304A17}" dt="2026-10-08T07:08:02.956" v="54"/>
          <ac:spMkLst>
            <pc:docMk/>
            <pc:sldMk cId="2985564864" sldId="267"/>
            <ac:spMk id="2" creationId="{3CFE9EF8-E467-0732-C58F-42857A719C39}"/>
          </ac:spMkLst>
        </pc:spChg>
        <pc:picChg chg="add mod ord">
          <ac:chgData name="Mahesh waran" userId="75c10f28fe183948" providerId="LiveId" clId="{B714505B-5CD7-46CB-881F-2D31E2304A17}" dt="2026-10-08T07:08:19.920" v="58" actId="167"/>
          <ac:picMkLst>
            <pc:docMk/>
            <pc:sldMk cId="2985564864" sldId="267"/>
            <ac:picMk id="4" creationId="{7A9F0587-92AA-B42E-0F1F-80D22CDCF9F6}"/>
          </ac:picMkLst>
        </pc:picChg>
        <pc:picChg chg="add mod">
          <ac:chgData name="Mahesh waran" userId="75c10f28fe183948" providerId="LiveId" clId="{B714505B-5CD7-46CB-881F-2D31E2304A17}" dt="2026-10-08T07:08:56.382" v="66" actId="14100"/>
          <ac:picMkLst>
            <pc:docMk/>
            <pc:sldMk cId="2985564864" sldId="267"/>
            <ac:picMk id="6" creationId="{CE342A87-B7B6-4C3E-9F7B-69D5436E7D9E}"/>
          </ac:picMkLst>
        </pc:picChg>
      </pc:sldChg>
      <pc:sldChg chg="addSp modSp new mod">
        <pc:chgData name="Mahesh waran" userId="75c10f28fe183948" providerId="LiveId" clId="{B714505B-5CD7-46CB-881F-2D31E2304A17}" dt="2026-10-08T07:10:07.792" v="70" actId="14100"/>
        <pc:sldMkLst>
          <pc:docMk/>
          <pc:sldMk cId="668229654" sldId="268"/>
        </pc:sldMkLst>
        <pc:spChg chg="mod">
          <ac:chgData name="Mahesh waran" userId="75c10f28fe183948" providerId="LiveId" clId="{B714505B-5CD7-46CB-881F-2D31E2304A17}" dt="2026-10-08T07:08:05.959" v="55"/>
          <ac:spMkLst>
            <pc:docMk/>
            <pc:sldMk cId="668229654" sldId="268"/>
            <ac:spMk id="2" creationId="{FA2F2E13-11E6-4C5B-62E5-AEC52CC4B468}"/>
          </ac:spMkLst>
        </pc:spChg>
        <pc:picChg chg="add mod ord">
          <ac:chgData name="Mahesh waran" userId="75c10f28fe183948" providerId="LiveId" clId="{B714505B-5CD7-46CB-881F-2D31E2304A17}" dt="2026-10-08T07:08:35.282" v="62" actId="1076"/>
          <ac:picMkLst>
            <pc:docMk/>
            <pc:sldMk cId="668229654" sldId="268"/>
            <ac:picMk id="4" creationId="{0E6EF329-57C9-F921-603D-5961F5388391}"/>
          </ac:picMkLst>
        </pc:picChg>
        <pc:picChg chg="add mod">
          <ac:chgData name="Mahesh waran" userId="75c10f28fe183948" providerId="LiveId" clId="{B714505B-5CD7-46CB-881F-2D31E2304A17}" dt="2026-10-08T07:10:07.792" v="70" actId="14100"/>
          <ac:picMkLst>
            <pc:docMk/>
            <pc:sldMk cId="668229654" sldId="268"/>
            <ac:picMk id="6" creationId="{2DB71766-FA3F-DCE6-6E7C-46594ABA1D9C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5019145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fg/logo_circl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365760"/>
            <a:ext cx="731520" cy="731520"/>
          </a:xfrm>
          <a:prstGeom prst="rect">
            <a:avLst/>
          </a:prstGeom>
        </p:spPr>
      </p:pic>
      <p:sp>
        <p:nvSpPr>
          <p:cNvPr id="3" name="Text 0"/>
          <p:cNvSpPr>
            <a:spLocks noGrp="1"/>
          </p:cNvSpPr>
          <p:nvPr>
            <p:ph type="title" idx="101" hasCustomPrompt="1"/>
          </p:nvPr>
        </p:nvSpPr>
        <p:spPr>
          <a:xfrm>
            <a:off x="1828800" y="320040"/>
            <a:ext cx="8531352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ctr">
              <a:buNone/>
              <a:defRPr lang="en-US" sz="3600" dirty="0">
                <a:solidFill>
                  <a:schemeClr val="accent1"/>
                </a:solidFill>
              </a:defRPr>
            </a:lvl1pPr>
          </a:lstStyle>
          <a:p>
            <a:pPr marL="0" indent="0" algn="ctr">
              <a:buNone/>
            </a:pPr>
            <a:endParaRPr lang="en-US" sz="36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7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Title frame"/>
          <p:cNvSpPr/>
          <p:nvPr/>
        </p:nvSpPr>
        <p:spPr>
          <a:xfrm>
            <a:off x="548640" y="731520"/>
            <a:ext cx="5866849" cy="3098800"/>
          </a:xfrm>
          <a:prstGeom prst="roundRect">
            <a:avLst>
              <a:gd name="adj" fmla="val 7143"/>
            </a:avLst>
          </a:prstGeom>
          <a:ln w="12700">
            <a:solidFill>
              <a:schemeClr val="tx2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759185" y="960120"/>
            <a:ext cx="5765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200" b="1" dirty="0">
                <a:solidFill>
                  <a:schemeClr val="accent1"/>
                </a:solidFill>
              </a:rPr>
              <a:t>FlowGuard</a:t>
            </a:r>
            <a:endParaRPr lang="en-US" sz="7200" dirty="0"/>
          </a:p>
        </p:txBody>
      </p:sp>
      <p:sp>
        <p:nvSpPr>
          <p:cNvPr id="30" name="Text 28"/>
          <p:cNvSpPr txBox="1"/>
          <p:nvPr/>
        </p:nvSpPr>
        <p:spPr>
          <a:xfrm>
            <a:off x="759185" y="2194560"/>
            <a:ext cx="57658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dirty="0">
                <a:solidFill>
                  <a:schemeClr val="tx1"/>
                </a:solidFill>
              </a:rPr>
              <a:t>A Multi-Agent Digital Twin System</a:t>
            </a:r>
            <a:endParaRPr lang="en-US" sz="3000" dirty="0"/>
          </a:p>
          <a:p>
            <a:pPr marL="0" indent="0">
              <a:buNone/>
            </a:pPr>
            <a:r>
              <a:rPr lang="en-US" sz="3000" dirty="0">
                <a:solidFill>
                  <a:schemeClr val="tx1"/>
                </a:solidFill>
              </a:rPr>
              <a:t>for Real-World Crowd Management</a:t>
            </a:r>
            <a:endParaRPr lang="en-US" sz="3000" dirty="0"/>
          </a:p>
        </p:txBody>
      </p:sp>
      <p:sp>
        <p:nvSpPr>
          <p:cNvPr id="31" name="Pill FOUNDATIONS OF ARTIFICIAL INTELLIGENCE"/>
          <p:cNvSpPr txBox="1"/>
          <p:nvPr/>
        </p:nvSpPr>
        <p:spPr>
          <a:xfrm>
            <a:off x="548640" y="4297680"/>
            <a:ext cx="5120640" cy="566928"/>
          </a:xfrm>
          <a:prstGeom prst="roundRect">
            <a:avLst>
              <a:gd name="adj" fmla="val 35484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chemeClr val="bg1"/>
                </a:solidFill>
              </a:rPr>
              <a:t>FOUNDATIONS OF ARTIFICIAL INTELLIGENCE</a:t>
            </a:r>
            <a:endParaRPr lang="en-US" sz="1500" dirty="0"/>
          </a:p>
        </p:txBody>
      </p:sp>
      <p:sp>
        <p:nvSpPr>
          <p:cNvPr id="32" name="Text 30"/>
          <p:cNvSpPr txBox="1"/>
          <p:nvPr/>
        </p:nvSpPr>
        <p:spPr>
          <a:xfrm>
            <a:off x="548640" y="516636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chemeClr val="tx1"/>
                </a:solidFill>
              </a:rPr>
              <a:t>Presented by</a:t>
            </a:r>
            <a:endParaRPr lang="en-US" sz="1800" dirty="0"/>
          </a:p>
        </p:txBody>
      </p:sp>
      <p:sp>
        <p:nvSpPr>
          <p:cNvPr id="33" name="Text 31"/>
          <p:cNvSpPr txBox="1"/>
          <p:nvPr/>
        </p:nvSpPr>
        <p:spPr>
          <a:xfrm>
            <a:off x="548640" y="5532120"/>
            <a:ext cx="5943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800" b="1" dirty="0">
                <a:solidFill>
                  <a:schemeClr val="tx1"/>
                </a:solidFill>
              </a:rPr>
              <a:t>MANISHA M   2116240701304</a:t>
            </a:r>
            <a:endParaRPr lang="en-US" sz="18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800" b="1" dirty="0">
                <a:solidFill>
                  <a:schemeClr val="tx1"/>
                </a:solidFill>
              </a:rPr>
              <a:t>MATHU METHAA K   2116240701306</a:t>
            </a:r>
            <a:endParaRPr lang="en-US" sz="1800" dirty="0"/>
          </a:p>
        </p:txBody>
      </p:sp>
      <p:pic>
        <p:nvPicPr>
          <p:cNvPr id="1026" name="Picture 2" descr="What are digital twins and how do they optimize network performance? |  Network World">
            <a:extLst>
              <a:ext uri="{FF2B5EF4-FFF2-40B4-BE49-F238E27FC236}">
                <a16:creationId xmlns:a16="http://schemas.microsoft.com/office/drawing/2014/main" id="{07D3C140-1543-CA86-FC44-D16A9DCE743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92240" y="1249681"/>
            <a:ext cx="5476240" cy="4876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frame"/>
          <p:cNvSpPr/>
          <p:nvPr/>
        </p:nvSpPr>
        <p:spPr>
          <a:xfrm>
            <a:off x="1737360" y="274320"/>
            <a:ext cx="8714232" cy="914400"/>
          </a:xfrm>
          <a:prstGeom prst="roundRect">
            <a:avLst>
              <a:gd name="adj" fmla="val 25000"/>
            </a:avLst>
          </a:prstGeom>
          <a:ln w="12700">
            <a:solidFill>
              <a:schemeClr val="tx2"/>
            </a:solidFill>
            <a:prstDash val="solid"/>
          </a:ln>
        </p:spPr>
      </p:sp>
      <p:sp>
        <p:nvSpPr>
          <p:cNvPr id="3" name="Text 0"/>
          <p:cNvSpPr>
            <a:spLocks noGrp="1"/>
          </p:cNvSpPr>
          <p:nvPr>
            <p:ph type="title" idx="101" hasCustomPrompt="1"/>
          </p:nvPr>
        </p:nvSpPr>
        <p:spPr>
          <a:xfrm>
            <a:off x="1828800" y="320040"/>
            <a:ext cx="853135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dirty="0">
                <a:solidFill>
                  <a:schemeClr val="accent1"/>
                </a:solidFill>
              </a:rPr>
              <a:t>Problem Statement &amp; Abstract</a:t>
            </a:r>
            <a:endParaRPr lang="en-US" sz="3600" dirty="0"/>
          </a:p>
        </p:txBody>
      </p:sp>
      <p:sp>
        <p:nvSpPr>
          <p:cNvPr id="4" name="Problem card"/>
          <p:cNvSpPr/>
          <p:nvPr/>
        </p:nvSpPr>
        <p:spPr>
          <a:xfrm>
            <a:off x="548640" y="1463040"/>
            <a:ext cx="5486400" cy="2514600"/>
          </a:xfrm>
          <a:prstGeom prst="roundRect">
            <a:avLst>
              <a:gd name="adj" fmla="val 5455"/>
            </a:avLst>
          </a:prstGeom>
          <a:solidFill>
            <a:schemeClr val="accent2">
              <a:alpha val="12000"/>
            </a:schemeClr>
          </a:solidFill>
          <a:ln w="9525">
            <a:solidFill>
              <a:schemeClr val="accent2">
                <a:alpha val="45000"/>
              </a:schemeClr>
            </a:solidFill>
            <a:prstDash val="solid"/>
          </a:ln>
        </p:spPr>
      </p:sp>
      <p:sp>
        <p:nvSpPr>
          <p:cNvPr id="5" name="Pill Problem Statement"/>
          <p:cNvSpPr txBox="1"/>
          <p:nvPr/>
        </p:nvSpPr>
        <p:spPr>
          <a:xfrm>
            <a:off x="777240" y="1645920"/>
            <a:ext cx="2651760" cy="411480"/>
          </a:xfrm>
          <a:prstGeom prst="roundRect">
            <a:avLst>
              <a:gd name="adj" fmla="val 48889"/>
            </a:avLst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chemeClr val="bg1"/>
                </a:solidFill>
              </a:rPr>
              <a:t>Problem Statement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2240280"/>
            <a:ext cx="50292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dirty="0">
                <a:solidFill>
                  <a:schemeClr val="tx1"/>
                </a:solidFill>
              </a:rPr>
              <a:t>Large gatherings at stadiums, religious sites and public venues face recurring crowd-safety risks during entry, exit and emergencies. Today's options are manual stewarding with no simulated support, or single-venue commercial twins that need heavy sensor infrastructure.</a:t>
            </a:r>
            <a:endParaRPr lang="en-US" sz="1700" dirty="0"/>
          </a:p>
        </p:txBody>
      </p:sp>
      <p:sp>
        <p:nvSpPr>
          <p:cNvPr id="7" name="Abstract card"/>
          <p:cNvSpPr/>
          <p:nvPr/>
        </p:nvSpPr>
        <p:spPr>
          <a:xfrm>
            <a:off x="6172200" y="1463040"/>
            <a:ext cx="5486400" cy="2514600"/>
          </a:xfrm>
          <a:prstGeom prst="roundRect">
            <a:avLst>
              <a:gd name="adj" fmla="val 5455"/>
            </a:avLst>
          </a:prstGeom>
          <a:solidFill>
            <a:schemeClr val="accent3">
              <a:alpha val="12000"/>
            </a:schemeClr>
          </a:solidFill>
          <a:ln w="9525">
            <a:solidFill>
              <a:schemeClr val="accent3">
                <a:alpha val="45000"/>
              </a:schemeClr>
            </a:solidFill>
            <a:prstDash val="solid"/>
          </a:ln>
        </p:spPr>
      </p:sp>
      <p:sp>
        <p:nvSpPr>
          <p:cNvPr id="8" name="Pill Abstract"/>
          <p:cNvSpPr txBox="1"/>
          <p:nvPr/>
        </p:nvSpPr>
        <p:spPr>
          <a:xfrm>
            <a:off x="6400800" y="1645920"/>
            <a:ext cx="2103120" cy="411480"/>
          </a:xfrm>
          <a:prstGeom prst="roundRect">
            <a:avLst>
              <a:gd name="adj" fmla="val 48889"/>
            </a:avLst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chemeClr val="bg1"/>
                </a:solidFill>
              </a:rPr>
              <a:t>Abstract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6400800" y="2240280"/>
            <a:ext cx="50292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dirty="0">
                <a:solidFill>
                  <a:schemeClr val="tx1"/>
                </a:solidFill>
              </a:rPr>
              <a:t>FlowGuard builds a multi-agent digital twin for any location picked on a map. It pulls real gates, footpaths and roads from OpenStreetMap, estimates crowd capacity from polygon area and satellite imagery, and lets classical AI agents decide how to route and respond.</a:t>
            </a:r>
            <a:endParaRPr lang="en-US" sz="1700" dirty="0"/>
          </a:p>
        </p:txBody>
      </p:sp>
      <p:sp>
        <p:nvSpPr>
          <p:cNvPr id="10" name="Technique card 1"/>
          <p:cNvSpPr/>
          <p:nvPr/>
        </p:nvSpPr>
        <p:spPr>
          <a:xfrm>
            <a:off x="548640" y="4251960"/>
            <a:ext cx="2642616" cy="1691640"/>
          </a:xfrm>
          <a:prstGeom prst="roundRect">
            <a:avLst>
              <a:gd name="adj" fmla="val 8108"/>
            </a:avLst>
          </a:prstGeom>
          <a:solidFill>
            <a:schemeClr val="accent1">
              <a:alpha val="12000"/>
            </a:schemeClr>
          </a:solidFill>
          <a:ln w="9525">
            <a:solidFill>
              <a:schemeClr val="accent1">
                <a:alpha val="45000"/>
              </a:schemeClr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31520" y="438912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BDI Agents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731520" y="4800600"/>
            <a:ext cx="2286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Crowd, Route and Safety agents perceive the twin and form goals.</a:t>
            </a:r>
            <a:endParaRPr lang="en-US" sz="1400" dirty="0"/>
          </a:p>
        </p:txBody>
      </p:sp>
      <p:sp>
        <p:nvSpPr>
          <p:cNvPr id="13" name="Technique card 2"/>
          <p:cNvSpPr/>
          <p:nvPr/>
        </p:nvSpPr>
        <p:spPr>
          <a:xfrm>
            <a:off x="3364992" y="4251960"/>
            <a:ext cx="2642616" cy="1691640"/>
          </a:xfrm>
          <a:prstGeom prst="roundRect">
            <a:avLst>
              <a:gd name="adj" fmla="val 8108"/>
            </a:avLst>
          </a:prstGeom>
          <a:solidFill>
            <a:schemeClr val="accent4">
              <a:alpha val="12000"/>
            </a:schemeClr>
          </a:solidFill>
          <a:ln w="9525">
            <a:solidFill>
              <a:schemeClr val="accent4">
                <a:alpha val="45000"/>
              </a:schemeClr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3547872" y="438912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chemeClr val="accent4"/>
                </a:solidFill>
              </a:rPr>
              <a:t>Utility Coordinator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3547872" y="4800600"/>
            <a:ext cx="2286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Scores candidate plans on evacuation time, density and safety.</a:t>
            </a:r>
            <a:endParaRPr lang="en-US" sz="1400" dirty="0"/>
          </a:p>
        </p:txBody>
      </p:sp>
      <p:sp>
        <p:nvSpPr>
          <p:cNvPr id="16" name="Technique card 3"/>
          <p:cNvSpPr/>
          <p:nvPr/>
        </p:nvSpPr>
        <p:spPr>
          <a:xfrm>
            <a:off x="6181344" y="4251960"/>
            <a:ext cx="2642616" cy="1691640"/>
          </a:xfrm>
          <a:prstGeom prst="roundRect">
            <a:avLst>
              <a:gd name="adj" fmla="val 8108"/>
            </a:avLst>
          </a:prstGeom>
          <a:solidFill>
            <a:schemeClr val="accent5">
              <a:alpha val="12000"/>
            </a:schemeClr>
          </a:solidFill>
          <a:ln w="9525">
            <a:solidFill>
              <a:schemeClr val="accent5">
                <a:alpha val="45000"/>
              </a:schemeClr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364224" y="438912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chemeClr val="accent5"/>
                </a:solidFill>
              </a:rPr>
              <a:t>Dijkstra &amp; A*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6364224" y="4800600"/>
            <a:ext cx="2286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Real shortest and safest paths on the OpenStreetMap graph.</a:t>
            </a:r>
            <a:endParaRPr lang="en-US" sz="1400" dirty="0"/>
          </a:p>
        </p:txBody>
      </p:sp>
      <p:sp>
        <p:nvSpPr>
          <p:cNvPr id="19" name="Technique card 4"/>
          <p:cNvSpPr/>
          <p:nvPr/>
        </p:nvSpPr>
        <p:spPr>
          <a:xfrm>
            <a:off x="8997696" y="4251960"/>
            <a:ext cx="2642616" cy="1691640"/>
          </a:xfrm>
          <a:prstGeom prst="roundRect">
            <a:avLst>
              <a:gd name="adj" fmla="val 8108"/>
            </a:avLst>
          </a:prstGeom>
          <a:solidFill>
            <a:schemeClr val="accent6">
              <a:alpha val="12000"/>
            </a:schemeClr>
          </a:solidFill>
          <a:ln w="9525">
            <a:solidFill>
              <a:schemeClr val="accent6">
                <a:alpha val="45000"/>
              </a:schemeClr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9180576" y="438912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chemeClr val="accent6"/>
                </a:solidFill>
              </a:rPr>
              <a:t>CSP Solver</a:t>
            </a:r>
            <a:endParaRPr lang="en-US" sz="1600" dirty="0"/>
          </a:p>
        </p:txBody>
      </p:sp>
      <p:sp>
        <p:nvSpPr>
          <p:cNvPr id="21" name="Text 19"/>
          <p:cNvSpPr txBox="1"/>
          <p:nvPr/>
        </p:nvSpPr>
        <p:spPr>
          <a:xfrm>
            <a:off x="9180576" y="4800600"/>
            <a:ext cx="2286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Assigns crowd groups to exits under capacity and distance limits.</a:t>
            </a:r>
            <a:endParaRPr lang="en-US" sz="1400" dirty="0"/>
          </a:p>
        </p:txBody>
      </p:sp>
      <p:sp>
        <p:nvSpPr>
          <p:cNvPr id="22" name="Pill No ML or DL: every decision traces back to a rule, a score or a search algorithm"/>
          <p:cNvSpPr txBox="1"/>
          <p:nvPr/>
        </p:nvSpPr>
        <p:spPr>
          <a:xfrm>
            <a:off x="548640" y="6126480"/>
            <a:ext cx="11091672" cy="457200"/>
          </a:xfrm>
          <a:prstGeom prst="roundRect">
            <a:avLst>
              <a:gd name="adj" fmla="val 44000"/>
            </a:avLst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chemeClr val="bg1"/>
                </a:solidFill>
              </a:rPr>
              <a:t>No ML or DL: every decision traces back to a rule, a score or a search algorithm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frame"/>
          <p:cNvSpPr/>
          <p:nvPr/>
        </p:nvSpPr>
        <p:spPr>
          <a:xfrm>
            <a:off x="1737360" y="274320"/>
            <a:ext cx="8714232" cy="914400"/>
          </a:xfrm>
          <a:prstGeom prst="roundRect">
            <a:avLst>
              <a:gd name="adj" fmla="val 25000"/>
            </a:avLst>
          </a:prstGeom>
          <a:ln w="12700">
            <a:solidFill>
              <a:schemeClr val="tx2"/>
            </a:solidFill>
            <a:prstDash val="solid"/>
          </a:ln>
        </p:spPr>
      </p:sp>
      <p:sp>
        <p:nvSpPr>
          <p:cNvPr id="3" name="Text 0"/>
          <p:cNvSpPr>
            <a:spLocks noGrp="1"/>
          </p:cNvSpPr>
          <p:nvPr>
            <p:ph type="title" idx="101" hasCustomPrompt="1"/>
          </p:nvPr>
        </p:nvSpPr>
        <p:spPr>
          <a:xfrm>
            <a:off x="1828800" y="320040"/>
            <a:ext cx="853135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dirty="0">
                <a:solidFill>
                  <a:schemeClr val="accent1"/>
                </a:solidFill>
              </a:rPr>
              <a:t>Literature Survey</a:t>
            </a:r>
            <a:endParaRPr lang="en-US" sz="3600" dirty="0"/>
          </a:p>
        </p:txBody>
      </p:sp>
      <p:graphicFrame>
        <p:nvGraphicFramePr>
          <p:cNvPr id="4" name="Literature 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17320"/>
          <a:ext cx="11091672" cy="4041648"/>
        </p:xfrm>
        <a:graphic>
          <a:graphicData uri="http://schemas.openxmlformats.org/drawingml/2006/table">
            <a:tbl>
              <a:tblPr/>
              <a:tblGrid>
                <a:gridCol w="19202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1089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346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22783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Author &amp; Year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9525" cap="flat" cmpd="sng" algn="ctr">
                      <a:solidFill>
                        <a:srgbClr val="C6D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6D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6D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6D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6AA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Methodology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9525" cap="flat" cmpd="sng" algn="ctr">
                      <a:solidFill>
                        <a:srgbClr val="C6D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6D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6D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6D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6AA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Drawback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9525" cap="flat" cmpd="sng" algn="ctr">
                      <a:solidFill>
                        <a:srgbClr val="C6D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6D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6D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6D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6AA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Improvement in FlowGuard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9525" cap="flat" cmpd="sng" algn="ctr">
                      <a:solidFill>
                        <a:srgbClr val="C6D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6D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6D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6D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6AA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14284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 et al. (2021)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9525" cap="flat" cmpd="sng" algn="ctr">
                      <a:solidFill>
                        <a:srgbClr val="C6D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6D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6D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6D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14284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Survey of sensor, feature and decision-level data fusion for crowd monitoring.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9525" cap="flat" cmpd="sng" algn="ctr">
                      <a:solidFill>
                        <a:srgbClr val="C6D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6D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6D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6D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14284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Descriptive only; no routing or decision-making.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9525" cap="flat" cmpd="sng" algn="ctr">
                      <a:solidFill>
                        <a:srgbClr val="C6D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6D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6D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6D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0B6B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working decision pipeline (agents + Coordinator), not just a taxonomy.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9525" cap="flat" cmpd="sng" algn="ctr">
                      <a:solidFill>
                        <a:srgbClr val="C6D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6D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6D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6D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14284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Noor (2023)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9525" cap="flat" cmpd="sng" algn="ctr">
                      <a:solidFill>
                        <a:srgbClr val="C6D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6D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6D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6D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14284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Hidden Markov Model classifies CCTV footage into normal or abnormal flow (Hajj/Umrah).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9525" cap="flat" cmpd="sng" algn="ctr">
                      <a:solidFill>
                        <a:srgbClr val="C6D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6D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6D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6D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14284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Needs dense CCTV; detects problems but decides no response.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9525" cap="flat" cmpd="sng" algn="ctr">
                      <a:solidFill>
                        <a:srgbClr val="C6D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6D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6D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6D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0B6B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cameras needed; map data plus agent-driven rerouting.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9525" cap="flat" cmpd="sng" algn="ctr">
                      <a:solidFill>
                        <a:srgbClr val="C6D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6D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6D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6D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14284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Li, S. (2022)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9525" cap="flat" cmpd="sng" algn="ctr">
                      <a:solidFill>
                        <a:srgbClr val="C6D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6D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6D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6D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14284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IoT-based stadium management system architecture.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9525" cap="flat" cmpd="sng" algn="ctr">
                      <a:solidFill>
                        <a:srgbClr val="C6D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6D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6D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6D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14284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AI decision layer; one fixed venue.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9525" cap="flat" cmpd="sng" algn="ctr">
                      <a:solidFill>
                        <a:srgbClr val="C6D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6D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6D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6D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0B6B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Works for any venue and adds the missing AI decision layer.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9525" cap="flat" cmpd="sng" algn="ctr">
                      <a:solidFill>
                        <a:srgbClr val="C6D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6D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6D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6D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14284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 (2023)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9525" cap="flat" cmpd="sng" algn="ctr">
                      <a:solidFill>
                        <a:srgbClr val="C6D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6D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6D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6D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14284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1,500+ WiFi access points used as passive sensors on a campus.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9525" cap="flat" cmpd="sng" algn="ctr">
                      <a:solidFill>
                        <a:srgbClr val="C6D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6D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6D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6D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14284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Privacy-sensitive device tracking; observation only.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9525" cap="flat" cmpd="sng" algn="ctr">
                      <a:solidFill>
                        <a:srgbClr val="C6D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6D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6D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6D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0B6B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Uses public map data and adds real intervention.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9525" cap="flat" cmpd="sng" algn="ctr">
                      <a:solidFill>
                        <a:srgbClr val="C6D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6D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6D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6D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14284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Zhong et al. (2024)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9525" cap="flat" cmpd="sng" algn="ctr">
                      <a:solidFill>
                        <a:srgbClr val="C6D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6D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6D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6D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14284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Four-layer digital twin for airport crowd control.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9525" cap="flat" cmpd="sng" algn="ctr">
                      <a:solidFill>
                        <a:srgbClr val="C6D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6D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6D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6D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14284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Airport-specific; not shown to generalize.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9525" cap="flat" cmpd="sng" algn="ctr">
                      <a:solidFill>
                        <a:srgbClr val="C6D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6D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6D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6D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0B6B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Same twin-to-decision layering, but location-independent.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9525" cap="flat" cmpd="sng" algn="ctr">
                      <a:solidFill>
                        <a:srgbClr val="C6D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6D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6D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6D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" name="Common thread card"/>
          <p:cNvSpPr/>
          <p:nvPr/>
        </p:nvSpPr>
        <p:spPr>
          <a:xfrm>
            <a:off x="548640" y="5623560"/>
            <a:ext cx="11091672" cy="777240"/>
          </a:xfrm>
          <a:prstGeom prst="roundRect">
            <a:avLst>
              <a:gd name="adj" fmla="val 17647"/>
            </a:avLst>
          </a:prstGeom>
          <a:solidFill>
            <a:schemeClr val="accent3">
              <a:alpha val="12000"/>
            </a:schemeClr>
          </a:solidFill>
          <a:ln w="9525">
            <a:solidFill>
              <a:schemeClr val="accent3">
                <a:alpha val="45000"/>
              </a:schemeClr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777240" y="5623560"/>
            <a:ext cx="10652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chemeClr val="tx1"/>
                </a:solidFill>
              </a:rPr>
              <a:t>Common thread (1/2): the studies either monitor crowds without deciding what to do, or lean on hardware that is tied to one venue.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frame"/>
          <p:cNvSpPr/>
          <p:nvPr/>
        </p:nvSpPr>
        <p:spPr>
          <a:xfrm>
            <a:off x="1737360" y="274320"/>
            <a:ext cx="8714232" cy="914400"/>
          </a:xfrm>
          <a:prstGeom prst="roundRect">
            <a:avLst>
              <a:gd name="adj" fmla="val 25000"/>
            </a:avLst>
          </a:prstGeom>
          <a:ln w="12700">
            <a:solidFill>
              <a:schemeClr val="tx2"/>
            </a:solidFill>
            <a:prstDash val="solid"/>
          </a:ln>
        </p:spPr>
      </p:sp>
      <p:sp>
        <p:nvSpPr>
          <p:cNvPr id="3" name="Text 0"/>
          <p:cNvSpPr>
            <a:spLocks noGrp="1"/>
          </p:cNvSpPr>
          <p:nvPr>
            <p:ph type="title" idx="101" hasCustomPrompt="1"/>
          </p:nvPr>
        </p:nvSpPr>
        <p:spPr>
          <a:xfrm>
            <a:off x="1828800" y="320040"/>
            <a:ext cx="853135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dirty="0">
                <a:solidFill>
                  <a:schemeClr val="accent1"/>
                </a:solidFill>
              </a:rPr>
              <a:t>Literature Survey</a:t>
            </a:r>
            <a:endParaRPr lang="en-US" sz="3600" dirty="0"/>
          </a:p>
        </p:txBody>
      </p:sp>
      <p:graphicFrame>
        <p:nvGraphicFramePr>
          <p:cNvPr id="5" name="Literature 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17320"/>
          <a:ext cx="11091672" cy="4041648"/>
        </p:xfrm>
        <a:graphic>
          <a:graphicData uri="http://schemas.openxmlformats.org/drawingml/2006/table">
            <a:tbl>
              <a:tblPr/>
              <a:tblGrid>
                <a:gridCol w="19202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1089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346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22783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Author &amp; Year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9525" cap="flat" cmpd="sng" algn="ctr">
                      <a:solidFill>
                        <a:srgbClr val="C6D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6D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6D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6D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6AA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Methodology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9525" cap="flat" cmpd="sng" algn="ctr">
                      <a:solidFill>
                        <a:srgbClr val="C6D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6D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6D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6D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6AA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Drawback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9525" cap="flat" cmpd="sng" algn="ctr">
                      <a:solidFill>
                        <a:srgbClr val="C6D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6D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6D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6D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6AA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Improvement in FlowGuard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9525" cap="flat" cmpd="sng" algn="ctr">
                      <a:solidFill>
                        <a:srgbClr val="C6D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6D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6D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6D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6AA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14284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Yasufuku &amp; Takahashi (2024)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9525" cap="flat" cmpd="sng" algn="ctr">
                      <a:solidFill>
                        <a:srgbClr val="C6D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6D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6D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6D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14284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Agent-based simulation platform predicting congestion 10-20 minutes ahead.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9525" cap="flat" cmpd="sng" algn="ctr">
                      <a:solidFill>
                        <a:srgbClr val="C6D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6D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6D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6D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14284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Their own analysis: linear prediction misses crowd dynamics.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9525" cap="flat" cmpd="sng" algn="ctr">
                      <a:solidFill>
                        <a:srgbClr val="C6D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6D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6D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6D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0B6B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numeric prediction; the Coordinator scores explicit plans.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9525" cap="flat" cmpd="sng" algn="ctr">
                      <a:solidFill>
                        <a:srgbClr val="C6D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6D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6D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6D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14284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Meng et al. (2022)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9525" cap="flat" cmpd="sng" algn="ctr">
                      <a:solidFill>
                        <a:srgbClr val="C6D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6D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6D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6D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14284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A* with path-density and obstacle cost for multi-storey ship evacuation.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9525" cap="flat" cmpd="sng" algn="ctr">
                      <a:solidFill>
                        <a:srgbClr val="C6D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6D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6D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6D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14284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Ship-specific; one algorithm, no multi-agent coordination.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9525" cap="flat" cmpd="sng" algn="ctr">
                      <a:solidFill>
                        <a:srgbClr val="C6D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6D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6D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6D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0B6B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Density-aware routing inside a full multi-agent system with CSP.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9525" cap="flat" cmpd="sng" algn="ctr">
                      <a:solidFill>
                        <a:srgbClr val="C6D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6D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6D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6D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14284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Golubić (2023)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9525" cap="flat" cmpd="sng" algn="ctr">
                      <a:solidFill>
                        <a:srgbClr val="C6D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6D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6D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6D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14284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Review of Dijkstra, A* and linear programming for evacuation planning.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9525" cap="flat" cmpd="sng" algn="ctr">
                      <a:solidFill>
                        <a:srgbClr val="C6D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6D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6D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6D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14284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Theory only; no implementation or real data.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9525" cap="flat" cmpd="sng" algn="ctr">
                      <a:solidFill>
                        <a:srgbClr val="C6D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6D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6D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6D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0B6B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Implemented and tested on real stadium graphs with live simulation.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9525" cap="flat" cmpd="sng" algn="ctr">
                      <a:solidFill>
                        <a:srgbClr val="C6D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6D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6D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6D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14284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Dinh Thi Hong Huyen et al. (2023)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9525" cap="flat" cmpd="sng" algn="ctr">
                      <a:solidFill>
                        <a:srgbClr val="C6D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6D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6D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6D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14284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Dijkstra with route-capacity limits and blocked-route re-planning.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9525" cap="flat" cmpd="sng" algn="ctr">
                      <a:solidFill>
                        <a:srgbClr val="C6D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6D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6D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6D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14284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Capacity is assumed; no estimation or agent coordination.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9525" cap="flat" cmpd="sng" algn="ctr">
                      <a:solidFill>
                        <a:srgbClr val="C6D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6D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6D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6D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0B6B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Estimates capacity (OSM + image analysis); adds CSP and agents.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9525" cap="flat" cmpd="sng" algn="ctr">
                      <a:solidFill>
                        <a:srgbClr val="C6D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6D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6D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6D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14284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Chen &amp; Zhang (2025)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9525" cap="flat" cmpd="sng" algn="ctr">
                      <a:solidFill>
                        <a:srgbClr val="C6D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6D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6D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6D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14284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4K cameras, infrared, UWB and MobileNetV3 edge computing for a smart gym.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9525" cap="flat" cmpd="sng" algn="ctr">
                      <a:solidFill>
                        <a:srgbClr val="C6D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6D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6D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6D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14284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Heavy hardware; cannot scale to a new venue.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9525" cap="flat" cmpd="sng" algn="ctr">
                      <a:solidFill>
                        <a:srgbClr val="C6D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6D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6D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6D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0B6B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Zero hardware; any venue is available from OpenStreetMap.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9525" cap="flat" cmpd="sng" algn="ctr">
                      <a:solidFill>
                        <a:srgbClr val="C6D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6D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6D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6D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4" name="Contribution card"/>
          <p:cNvSpPr/>
          <p:nvPr/>
        </p:nvSpPr>
        <p:spPr>
          <a:xfrm>
            <a:off x="548640" y="5623560"/>
            <a:ext cx="11091672" cy="777240"/>
          </a:xfrm>
          <a:prstGeom prst="roundRect">
            <a:avLst>
              <a:gd name="adj" fmla="val 17647"/>
            </a:avLst>
          </a:prstGeom>
          <a:solidFill>
            <a:schemeClr val="accent5">
              <a:alpha val="12000"/>
            </a:schemeClr>
          </a:solidFill>
          <a:ln w="9525">
            <a:solidFill>
              <a:schemeClr val="accent5">
                <a:alpha val="45000"/>
              </a:schemeClr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777240" y="5623560"/>
            <a:ext cx="10652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chemeClr val="tx1"/>
                </a:solidFill>
              </a:rPr>
              <a:t>FlowGuard closes all three gaps: real OpenStreetMap data (no hardware), capacity estimation, and BDI multi-agent coordination, for any location.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989229-CF14-893D-B32D-10120AD57820}"/>
              </a:ext>
            </a:extLst>
          </p:cNvPr>
          <p:cNvSpPr>
            <a:spLocks noGrp="1"/>
          </p:cNvSpPr>
          <p:nvPr>
            <p:ph type="title" idx="101"/>
          </p:nvPr>
        </p:nvSpPr>
        <p:spPr/>
        <p:txBody>
          <a:bodyPr/>
          <a:lstStyle/>
          <a:p>
            <a:r>
              <a:rPr lang="en-US" dirty="0"/>
              <a:t>SYSTEM ARCHITECTURE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421A001-CB43-7B57-487B-434C1561DD0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19212" y="955040"/>
            <a:ext cx="9553575" cy="5136197"/>
          </a:xfrm>
          <a:prstGeom prst="rect">
            <a:avLst/>
          </a:prstGeom>
        </p:spPr>
      </p:pic>
      <p:sp>
        <p:nvSpPr>
          <p:cNvPr id="5" name="Title frame">
            <a:extLst>
              <a:ext uri="{FF2B5EF4-FFF2-40B4-BE49-F238E27FC236}">
                <a16:creationId xmlns:a16="http://schemas.microsoft.com/office/drawing/2014/main" id="{605A8FD4-F481-421F-9385-77CCB0A018A3}"/>
              </a:ext>
            </a:extLst>
          </p:cNvPr>
          <p:cNvSpPr/>
          <p:nvPr/>
        </p:nvSpPr>
        <p:spPr>
          <a:xfrm>
            <a:off x="1737360" y="274320"/>
            <a:ext cx="8714232" cy="680720"/>
          </a:xfrm>
          <a:prstGeom prst="roundRect">
            <a:avLst>
              <a:gd name="adj" fmla="val 25000"/>
            </a:avLst>
          </a:prstGeom>
          <a:ln w="12700">
            <a:solidFill>
              <a:schemeClr val="tx2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2598942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frame"/>
          <p:cNvSpPr/>
          <p:nvPr/>
        </p:nvSpPr>
        <p:spPr>
          <a:xfrm>
            <a:off x="1737360" y="274320"/>
            <a:ext cx="8714232" cy="914400"/>
          </a:xfrm>
          <a:prstGeom prst="roundRect">
            <a:avLst>
              <a:gd name="adj" fmla="val 25000"/>
            </a:avLst>
          </a:prstGeom>
          <a:ln w="12700">
            <a:solidFill>
              <a:schemeClr val="tx2"/>
            </a:solidFill>
            <a:prstDash val="solid"/>
          </a:ln>
        </p:spPr>
      </p:sp>
      <p:sp>
        <p:nvSpPr>
          <p:cNvPr id="3" name="Text 0"/>
          <p:cNvSpPr>
            <a:spLocks noGrp="1"/>
          </p:cNvSpPr>
          <p:nvPr>
            <p:ph type="title" idx="101" hasCustomPrompt="1"/>
          </p:nvPr>
        </p:nvSpPr>
        <p:spPr>
          <a:xfrm>
            <a:off x="1828800" y="320040"/>
            <a:ext cx="853135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dirty="0">
                <a:solidFill>
                  <a:schemeClr val="accent1"/>
                </a:solidFill>
              </a:rPr>
              <a:t>Implementation</a:t>
            </a:r>
            <a:endParaRPr lang="en-US" sz="3600" dirty="0"/>
          </a:p>
        </p:txBody>
      </p:sp>
      <p:sp>
        <p:nvSpPr>
          <p:cNvPr id="4" name="Flow card 1"/>
          <p:cNvSpPr/>
          <p:nvPr/>
        </p:nvSpPr>
        <p:spPr>
          <a:xfrm>
            <a:off x="548640" y="1463040"/>
            <a:ext cx="1691640" cy="1188720"/>
          </a:xfrm>
          <a:prstGeom prst="roundRect">
            <a:avLst>
              <a:gd name="adj" fmla="val 11538"/>
            </a:avLst>
          </a:prstGeom>
          <a:solidFill>
            <a:schemeClr val="accent2">
              <a:alpha val="12000"/>
            </a:schemeClr>
          </a:solidFill>
          <a:ln w="9525">
            <a:solidFill>
              <a:schemeClr val="accent2">
                <a:alpha val="45000"/>
              </a:schemeClr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1536192"/>
            <a:ext cx="1508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accent2"/>
                </a:solidFill>
              </a:rPr>
              <a:t>User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1938528"/>
            <a:ext cx="1508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dirty="0">
                <a:solidFill>
                  <a:schemeClr val="tx1"/>
                </a:solidFill>
              </a:rPr>
              <a:t>Selects a location on the map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2240280" y="1828800"/>
            <a:ext cx="18836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chemeClr val="tx2"/>
                </a:solidFill>
              </a:rPr>
              <a:t>➜</a:t>
            </a:r>
            <a:endParaRPr lang="en-US" sz="1200" dirty="0"/>
          </a:p>
        </p:txBody>
      </p:sp>
      <p:sp>
        <p:nvSpPr>
          <p:cNvPr id="8" name="Flow card 2"/>
          <p:cNvSpPr/>
          <p:nvPr/>
        </p:nvSpPr>
        <p:spPr>
          <a:xfrm>
            <a:off x="2428646" y="1463040"/>
            <a:ext cx="1691640" cy="1188720"/>
          </a:xfrm>
          <a:prstGeom prst="roundRect">
            <a:avLst>
              <a:gd name="adj" fmla="val 11538"/>
            </a:avLst>
          </a:prstGeom>
          <a:solidFill>
            <a:schemeClr val="accent3">
              <a:alpha val="12000"/>
            </a:schemeClr>
          </a:solidFill>
          <a:ln w="9525">
            <a:solidFill>
              <a:schemeClr val="accent3">
                <a:alpha val="45000"/>
              </a:schemeClr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2520086" y="1536192"/>
            <a:ext cx="1508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accent3"/>
                </a:solidFill>
              </a:rPr>
              <a:t>Frontend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2520086" y="1938528"/>
            <a:ext cx="1508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dirty="0">
                <a:solidFill>
                  <a:schemeClr val="tx1"/>
                </a:solidFill>
              </a:rPr>
              <a:t>Leaflet map, HTML / CSS / JS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4120286" y="1828800"/>
            <a:ext cx="18836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chemeClr val="tx2"/>
                </a:solidFill>
              </a:rPr>
              <a:t>➜</a:t>
            </a:r>
            <a:endParaRPr lang="en-US" sz="1200" dirty="0"/>
          </a:p>
        </p:txBody>
      </p:sp>
      <p:sp>
        <p:nvSpPr>
          <p:cNvPr id="12" name="Flow card 3"/>
          <p:cNvSpPr/>
          <p:nvPr/>
        </p:nvSpPr>
        <p:spPr>
          <a:xfrm>
            <a:off x="4308653" y="1463040"/>
            <a:ext cx="1691640" cy="1188720"/>
          </a:xfrm>
          <a:prstGeom prst="roundRect">
            <a:avLst>
              <a:gd name="adj" fmla="val 11538"/>
            </a:avLst>
          </a:prstGeom>
          <a:solidFill>
            <a:schemeClr val="accent4">
              <a:alpha val="12000"/>
            </a:schemeClr>
          </a:solidFill>
          <a:ln w="9525">
            <a:solidFill>
              <a:schemeClr val="accent4">
                <a:alpha val="45000"/>
              </a:schemeClr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400093" y="1536192"/>
            <a:ext cx="1508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accent4"/>
                </a:solidFill>
              </a:rPr>
              <a:t>Backend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4400093" y="1938528"/>
            <a:ext cx="1508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dirty="0">
                <a:solidFill>
                  <a:schemeClr val="tx1"/>
                </a:solidFill>
              </a:rPr>
              <a:t>FastAPI, JWT, WebSocket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6000293" y="1828800"/>
            <a:ext cx="18836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chemeClr val="tx2"/>
                </a:solidFill>
              </a:rPr>
              <a:t>➜</a:t>
            </a:r>
            <a:endParaRPr lang="en-US" sz="1200" dirty="0"/>
          </a:p>
        </p:txBody>
      </p:sp>
      <p:sp>
        <p:nvSpPr>
          <p:cNvPr id="16" name="Flow card 4"/>
          <p:cNvSpPr/>
          <p:nvPr/>
        </p:nvSpPr>
        <p:spPr>
          <a:xfrm>
            <a:off x="6188659" y="1463040"/>
            <a:ext cx="1691640" cy="1188720"/>
          </a:xfrm>
          <a:prstGeom prst="roundRect">
            <a:avLst>
              <a:gd name="adj" fmla="val 11538"/>
            </a:avLst>
          </a:prstGeom>
          <a:solidFill>
            <a:schemeClr val="accent5">
              <a:alpha val="12000"/>
            </a:schemeClr>
          </a:solidFill>
          <a:ln w="9525">
            <a:solidFill>
              <a:schemeClr val="accent5">
                <a:alpha val="45000"/>
              </a:schemeClr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280099" y="1536192"/>
            <a:ext cx="1508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accent5"/>
                </a:solidFill>
              </a:rPr>
              <a:t>Twin Builder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6280099" y="1938528"/>
            <a:ext cx="1508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dirty="0">
                <a:solidFill>
                  <a:schemeClr val="tx1"/>
                </a:solidFill>
              </a:rPr>
              <a:t>OSM graph + OpenCV capacity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7880299" y="1828800"/>
            <a:ext cx="18836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chemeClr val="tx2"/>
                </a:solidFill>
              </a:rPr>
              <a:t>➜</a:t>
            </a:r>
            <a:endParaRPr lang="en-US" sz="1200" dirty="0"/>
          </a:p>
        </p:txBody>
      </p:sp>
      <p:sp>
        <p:nvSpPr>
          <p:cNvPr id="20" name="Flow card 5"/>
          <p:cNvSpPr/>
          <p:nvPr/>
        </p:nvSpPr>
        <p:spPr>
          <a:xfrm>
            <a:off x="8068666" y="1463040"/>
            <a:ext cx="1691640" cy="1188720"/>
          </a:xfrm>
          <a:prstGeom prst="roundRect">
            <a:avLst>
              <a:gd name="adj" fmla="val 11538"/>
            </a:avLst>
          </a:prstGeom>
          <a:solidFill>
            <a:schemeClr val="accent6">
              <a:alpha val="12000"/>
            </a:schemeClr>
          </a:solidFill>
          <a:ln w="9525">
            <a:solidFill>
              <a:schemeClr val="accent6">
                <a:alpha val="45000"/>
              </a:schemeClr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8160106" y="1536192"/>
            <a:ext cx="1508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accent6"/>
                </a:solidFill>
              </a:rPr>
              <a:t>Agents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8160106" y="1938528"/>
            <a:ext cx="1508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dirty="0">
                <a:solidFill>
                  <a:schemeClr val="tx1"/>
                </a:solidFill>
              </a:rPr>
              <a:t>BDI + Coordinator + CSP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9760306" y="1828800"/>
            <a:ext cx="18836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chemeClr val="tx2"/>
                </a:solidFill>
              </a:rPr>
              <a:t>➜</a:t>
            </a:r>
            <a:endParaRPr lang="en-US" sz="1200" dirty="0"/>
          </a:p>
        </p:txBody>
      </p:sp>
      <p:sp>
        <p:nvSpPr>
          <p:cNvPr id="24" name="Flow card 6"/>
          <p:cNvSpPr/>
          <p:nvPr/>
        </p:nvSpPr>
        <p:spPr>
          <a:xfrm>
            <a:off x="9948672" y="1463040"/>
            <a:ext cx="1691640" cy="1188720"/>
          </a:xfrm>
          <a:prstGeom prst="roundRect">
            <a:avLst>
              <a:gd name="adj" fmla="val 11538"/>
            </a:avLst>
          </a:prstGeom>
          <a:solidFill>
            <a:schemeClr val="accent1">
              <a:alpha val="12000"/>
            </a:schemeClr>
          </a:solidFill>
          <a:ln w="9525">
            <a:solidFill>
              <a:schemeClr val="accent1">
                <a:alpha val="45000"/>
              </a:schemeClr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10040112" y="1536192"/>
            <a:ext cx="1508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accent1"/>
                </a:solidFill>
              </a:rPr>
              <a:t>Live Map</a:t>
            </a:r>
            <a:endParaRPr lang="en-US" sz="1600" dirty="0"/>
          </a:p>
        </p:txBody>
      </p:sp>
      <p:sp>
        <p:nvSpPr>
          <p:cNvPr id="26" name="Text 24"/>
          <p:cNvSpPr txBox="1"/>
          <p:nvPr/>
        </p:nvSpPr>
        <p:spPr>
          <a:xfrm>
            <a:off x="10040112" y="1938528"/>
            <a:ext cx="1508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dirty="0">
                <a:solidFill>
                  <a:schemeClr val="tx1"/>
                </a:solidFill>
              </a:rPr>
              <a:t>Crowd, routes, risk layers</a:t>
            </a:r>
            <a:endParaRPr lang="en-US" sz="1300" dirty="0"/>
          </a:p>
        </p:txBody>
      </p:sp>
      <p:sp>
        <p:nvSpPr>
          <p:cNvPr id="27" name="Tech stack card"/>
          <p:cNvSpPr/>
          <p:nvPr/>
        </p:nvSpPr>
        <p:spPr>
          <a:xfrm>
            <a:off x="548640" y="2880360"/>
            <a:ext cx="5394960" cy="3520440"/>
          </a:xfrm>
          <a:prstGeom prst="roundRect">
            <a:avLst>
              <a:gd name="adj" fmla="val 3896"/>
            </a:avLst>
          </a:prstGeom>
          <a:solidFill>
            <a:schemeClr val="accent2">
              <a:alpha val="12000"/>
            </a:schemeClr>
          </a:solidFill>
          <a:ln w="9525">
            <a:solidFill>
              <a:schemeClr val="accent2">
                <a:alpha val="45000"/>
              </a:schemeClr>
            </a:solidFill>
            <a:prstDash val="solid"/>
          </a:ln>
        </p:spPr>
      </p:sp>
      <p:sp>
        <p:nvSpPr>
          <p:cNvPr id="28" name="Pill Stack &amp;amp; Setup"/>
          <p:cNvSpPr txBox="1"/>
          <p:nvPr/>
        </p:nvSpPr>
        <p:spPr>
          <a:xfrm>
            <a:off x="777240" y="3017520"/>
            <a:ext cx="2377440" cy="411480"/>
          </a:xfrm>
          <a:prstGeom prst="roundRect">
            <a:avLst>
              <a:gd name="adj" fmla="val 48889"/>
            </a:avLst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chemeClr val="bg1"/>
                </a:solidFill>
              </a:rPr>
              <a:t>Stack &amp; Setup</a:t>
            </a:r>
            <a:endParaRPr lang="en-US" sz="1500" dirty="0"/>
          </a:p>
        </p:txBody>
      </p:sp>
      <p:sp>
        <p:nvSpPr>
          <p:cNvPr id="29" name="Text 27"/>
          <p:cNvSpPr txBox="1"/>
          <p:nvPr/>
        </p:nvSpPr>
        <p:spPr>
          <a:xfrm>
            <a:off x="777240" y="3611880"/>
            <a:ext cx="4937760" cy="2697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Python: FastAPI, SQLite, NetworkX</a:t>
            </a:r>
            <a:endParaRPr lang="en-US" sz="1600" dirty="0"/>
          </a:p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OpenStreetMap Overpass + Nominatim geocoding</a:t>
            </a:r>
            <a:endParaRPr lang="en-US" sz="1600" dirty="0"/>
          </a:p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OpenCV HSV segmentation for capacity</a:t>
            </a:r>
            <a:endParaRPr lang="en-US" sz="1600" dirty="0"/>
          </a:p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Dijkstra, A*, priority queue, CSP backtracking</a:t>
            </a:r>
            <a:endParaRPr lang="en-US" sz="1600" dirty="0"/>
          </a:p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Scenarios: blocked gate, zone incident, inflow surge, combined crisis</a:t>
            </a:r>
            <a:endParaRPr lang="en-US" sz="1600" dirty="0"/>
          </a:p>
        </p:txBody>
      </p:sp>
      <p:sp>
        <p:nvSpPr>
          <p:cNvPr id="30" name="Results card"/>
          <p:cNvSpPr/>
          <p:nvPr/>
        </p:nvSpPr>
        <p:spPr>
          <a:xfrm>
            <a:off x="6080760" y="2880360"/>
            <a:ext cx="5559552" cy="3520440"/>
          </a:xfrm>
          <a:prstGeom prst="roundRect">
            <a:avLst>
              <a:gd name="adj" fmla="val 3896"/>
            </a:avLst>
          </a:prstGeom>
          <a:solidFill>
            <a:schemeClr val="accent5">
              <a:alpha val="12000"/>
            </a:schemeClr>
          </a:solidFill>
          <a:ln w="9525">
            <a:solidFill>
              <a:schemeClr val="accent5">
                <a:alpha val="45000"/>
              </a:schemeClr>
            </a:solidFill>
            <a:prstDash val="solid"/>
          </a:ln>
        </p:spPr>
      </p:sp>
      <p:sp>
        <p:nvSpPr>
          <p:cNvPr id="31" name="Pill Results"/>
          <p:cNvSpPr txBox="1"/>
          <p:nvPr/>
        </p:nvSpPr>
        <p:spPr>
          <a:xfrm>
            <a:off x="6309360" y="3017520"/>
            <a:ext cx="1828800" cy="411480"/>
          </a:xfrm>
          <a:prstGeom prst="roundRect">
            <a:avLst>
              <a:gd name="adj" fmla="val 48889"/>
            </a:avLst>
          </a:prstGeom>
          <a:solidFill>
            <a:schemeClr val="accent5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chemeClr val="bg1"/>
                </a:solidFill>
              </a:rPr>
              <a:t>Results</a:t>
            </a:r>
            <a:endParaRPr lang="en-US" sz="1500" dirty="0"/>
          </a:p>
        </p:txBody>
      </p:sp>
      <p:sp>
        <p:nvSpPr>
          <p:cNvPr id="32" name="Stat tile 1"/>
          <p:cNvSpPr/>
          <p:nvPr/>
        </p:nvSpPr>
        <p:spPr>
          <a:xfrm>
            <a:off x="6309360" y="3566160"/>
            <a:ext cx="2468880" cy="987552"/>
          </a:xfrm>
          <a:prstGeom prst="roundRect">
            <a:avLst>
              <a:gd name="adj" fmla="val 11111"/>
            </a:avLst>
          </a:prstGeom>
          <a:solidFill>
            <a:schemeClr val="bg1">
              <a:alpha val="75000"/>
            </a:schemeClr>
          </a:solidFill>
          <a:ln w="9525">
            <a:solidFill>
              <a:schemeClr val="accent5">
                <a:alpha val="45000"/>
              </a:schemeClr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6400800" y="3621024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chemeClr val="accent5"/>
                </a:solidFill>
              </a:rPr>
              <a:t>3</a:t>
            </a:r>
            <a:endParaRPr lang="en-US" sz="2600" dirty="0"/>
          </a:p>
        </p:txBody>
      </p:sp>
      <p:sp>
        <p:nvSpPr>
          <p:cNvPr id="34" name="Text 32"/>
          <p:cNvSpPr txBox="1"/>
          <p:nvPr/>
        </p:nvSpPr>
        <p:spPr>
          <a:xfrm>
            <a:off x="6400800" y="4133088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chemeClr val="tx1"/>
                </a:solidFill>
              </a:rPr>
              <a:t>real Tamil Nadu venues tested</a:t>
            </a:r>
            <a:endParaRPr lang="en-US" sz="1300" dirty="0"/>
          </a:p>
        </p:txBody>
      </p:sp>
      <p:sp>
        <p:nvSpPr>
          <p:cNvPr id="35" name="Stat tile 2"/>
          <p:cNvSpPr/>
          <p:nvPr/>
        </p:nvSpPr>
        <p:spPr>
          <a:xfrm>
            <a:off x="8915400" y="3566160"/>
            <a:ext cx="2468880" cy="987552"/>
          </a:xfrm>
          <a:prstGeom prst="roundRect">
            <a:avLst>
              <a:gd name="adj" fmla="val 11111"/>
            </a:avLst>
          </a:prstGeom>
          <a:solidFill>
            <a:schemeClr val="bg1">
              <a:alpha val="75000"/>
            </a:schemeClr>
          </a:solidFill>
          <a:ln w="9525">
            <a:solidFill>
              <a:schemeClr val="accent5">
                <a:alpha val="45000"/>
              </a:schemeClr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9006840" y="3621024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chemeClr val="accent5"/>
                </a:solidFill>
              </a:rPr>
              <a:t>506 – 1,085</a:t>
            </a:r>
            <a:endParaRPr lang="en-US" sz="2600" dirty="0"/>
          </a:p>
        </p:txBody>
      </p:sp>
      <p:sp>
        <p:nvSpPr>
          <p:cNvPr id="37" name="Text 35"/>
          <p:cNvSpPr txBox="1"/>
          <p:nvPr/>
        </p:nvSpPr>
        <p:spPr>
          <a:xfrm>
            <a:off x="9006840" y="4133088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chemeClr val="tx1"/>
                </a:solidFill>
              </a:rPr>
              <a:t>graph nodes per twin</a:t>
            </a:r>
            <a:endParaRPr lang="en-US" sz="1300" dirty="0"/>
          </a:p>
        </p:txBody>
      </p:sp>
      <p:sp>
        <p:nvSpPr>
          <p:cNvPr id="38" name="Stat tile 3"/>
          <p:cNvSpPr/>
          <p:nvPr/>
        </p:nvSpPr>
        <p:spPr>
          <a:xfrm>
            <a:off x="6309360" y="4663440"/>
            <a:ext cx="2468880" cy="987552"/>
          </a:xfrm>
          <a:prstGeom prst="roundRect">
            <a:avLst>
              <a:gd name="adj" fmla="val 11111"/>
            </a:avLst>
          </a:prstGeom>
          <a:solidFill>
            <a:schemeClr val="bg1">
              <a:alpha val="75000"/>
            </a:schemeClr>
          </a:solidFill>
          <a:ln w="9525">
            <a:solidFill>
              <a:schemeClr val="accent5">
                <a:alpha val="45000"/>
              </a:schemeClr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6400800" y="4718304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chemeClr val="accent5"/>
                </a:solidFill>
              </a:rPr>
              <a:t>~35,600</a:t>
            </a:r>
            <a:endParaRPr lang="en-US" sz="2600" dirty="0"/>
          </a:p>
        </p:txBody>
      </p:sp>
      <p:sp>
        <p:nvSpPr>
          <p:cNvPr id="40" name="Text 38"/>
          <p:cNvSpPr txBox="1"/>
          <p:nvPr/>
        </p:nvSpPr>
        <p:spPr>
          <a:xfrm>
            <a:off x="6400800" y="5230368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chemeClr val="tx1"/>
                </a:solidFill>
              </a:rPr>
              <a:t>average estimated capacity</a:t>
            </a:r>
            <a:endParaRPr lang="en-US" sz="1300" dirty="0"/>
          </a:p>
        </p:txBody>
      </p:sp>
      <p:sp>
        <p:nvSpPr>
          <p:cNvPr id="41" name="Stat tile 4"/>
          <p:cNvSpPr/>
          <p:nvPr/>
        </p:nvSpPr>
        <p:spPr>
          <a:xfrm>
            <a:off x="8915400" y="4663440"/>
            <a:ext cx="2468880" cy="987552"/>
          </a:xfrm>
          <a:prstGeom prst="roundRect">
            <a:avLst>
              <a:gd name="adj" fmla="val 11111"/>
            </a:avLst>
          </a:prstGeom>
          <a:solidFill>
            <a:schemeClr val="bg1">
              <a:alpha val="75000"/>
            </a:schemeClr>
          </a:solidFill>
          <a:ln w="9525">
            <a:solidFill>
              <a:schemeClr val="accent5">
                <a:alpha val="45000"/>
              </a:schemeClr>
            </a:solidFill>
            <a:prstDash val="solid"/>
          </a:ln>
        </p:spPr>
      </p:sp>
      <p:sp>
        <p:nvSpPr>
          <p:cNvPr id="42" name="Text 40"/>
          <p:cNvSpPr txBox="1"/>
          <p:nvPr/>
        </p:nvSpPr>
        <p:spPr>
          <a:xfrm>
            <a:off x="9006840" y="4718304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chemeClr val="accent5"/>
                </a:solidFill>
              </a:rPr>
              <a:t>12</a:t>
            </a:r>
            <a:endParaRPr lang="en-US" sz="2600" dirty="0"/>
          </a:p>
        </p:txBody>
      </p:sp>
      <p:sp>
        <p:nvSpPr>
          <p:cNvPr id="43" name="Text 41"/>
          <p:cNvSpPr txBox="1"/>
          <p:nvPr/>
        </p:nvSpPr>
        <p:spPr>
          <a:xfrm>
            <a:off x="9006840" y="5230368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chemeClr val="tx1"/>
                </a:solidFill>
              </a:rPr>
              <a:t>risk points flagged</a:t>
            </a:r>
            <a:endParaRPr lang="en-US" sz="1300" dirty="0"/>
          </a:p>
        </p:txBody>
      </p:sp>
      <p:sp>
        <p:nvSpPr>
          <p:cNvPr id="44" name="Text 42"/>
          <p:cNvSpPr txBox="1"/>
          <p:nvPr/>
        </p:nvSpPr>
        <p:spPr>
          <a:xfrm>
            <a:off x="6309360" y="5760720"/>
            <a:ext cx="5120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chemeClr val="tx1"/>
                </a:solidFill>
              </a:rPr>
              <a:t>Agent-driven rerouting cut average evacuation time and peak zone density versus an unmanaged baseline.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frame"/>
          <p:cNvSpPr/>
          <p:nvPr/>
        </p:nvSpPr>
        <p:spPr>
          <a:xfrm>
            <a:off x="1737360" y="274320"/>
            <a:ext cx="8714232" cy="914400"/>
          </a:xfrm>
          <a:prstGeom prst="roundRect">
            <a:avLst>
              <a:gd name="adj" fmla="val 25000"/>
            </a:avLst>
          </a:prstGeom>
          <a:ln w="12700">
            <a:solidFill>
              <a:schemeClr val="tx2"/>
            </a:solidFill>
            <a:prstDash val="solid"/>
          </a:ln>
        </p:spPr>
      </p:sp>
      <p:sp>
        <p:nvSpPr>
          <p:cNvPr id="3" name="Text 0"/>
          <p:cNvSpPr>
            <a:spLocks noGrp="1"/>
          </p:cNvSpPr>
          <p:nvPr>
            <p:ph type="title" idx="101" hasCustomPrompt="1"/>
          </p:nvPr>
        </p:nvSpPr>
        <p:spPr>
          <a:xfrm>
            <a:off x="1828800" y="320040"/>
            <a:ext cx="853135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dirty="0">
                <a:solidFill>
                  <a:schemeClr val="accent1"/>
                </a:solidFill>
              </a:rPr>
              <a:t>Modules</a:t>
            </a:r>
            <a:endParaRPr lang="en-US" sz="3600" dirty="0"/>
          </a:p>
        </p:txBody>
      </p:sp>
      <p:sp>
        <p:nvSpPr>
          <p:cNvPr id="4" name="Module card 1"/>
          <p:cNvSpPr/>
          <p:nvPr/>
        </p:nvSpPr>
        <p:spPr>
          <a:xfrm>
            <a:off x="548640" y="1463040"/>
            <a:ext cx="3557016" cy="2331720"/>
          </a:xfrm>
          <a:prstGeom prst="roundRect">
            <a:avLst>
              <a:gd name="adj" fmla="val 5882"/>
            </a:avLst>
          </a:prstGeom>
          <a:solidFill>
            <a:schemeClr val="accent2">
              <a:alpha val="12000"/>
            </a:schemeClr>
          </a:solidFill>
          <a:ln w="9525">
            <a:solidFill>
              <a:schemeClr val="accent2">
                <a:alpha val="45000"/>
              </a:schemeClr>
            </a:solidFill>
            <a:prstDash val="solid"/>
          </a:ln>
        </p:spPr>
      </p:sp>
      <p:sp>
        <p:nvSpPr>
          <p:cNvPr id="5" name="Module icon bg 1"/>
          <p:cNvSpPr/>
          <p:nvPr/>
        </p:nvSpPr>
        <p:spPr>
          <a:xfrm>
            <a:off x="777240" y="1664208"/>
            <a:ext cx="566928" cy="566928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6" name="Module icon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1801368"/>
            <a:ext cx="292608" cy="292608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508760" y="1664208"/>
            <a:ext cx="2377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chemeClr val="accent2"/>
                </a:solidFill>
              </a:rPr>
              <a:t>MODULE 1</a:t>
            </a:r>
            <a:endParaRPr lang="en-US" sz="1300" dirty="0"/>
          </a:p>
        </p:txBody>
      </p:sp>
      <p:sp>
        <p:nvSpPr>
          <p:cNvPr id="8" name="Text 5"/>
          <p:cNvSpPr txBox="1"/>
          <p:nvPr/>
        </p:nvSpPr>
        <p:spPr>
          <a:xfrm>
            <a:off x="777240" y="2359152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chemeClr val="tx1"/>
                </a:solidFill>
              </a:rPr>
              <a:t>Authentication &amp; Twin Management</a:t>
            </a:r>
            <a:endParaRPr lang="en-US" sz="1600" dirty="0"/>
          </a:p>
        </p:txBody>
      </p:sp>
      <p:sp>
        <p:nvSpPr>
          <p:cNvPr id="9" name="Text 6"/>
          <p:cNvSpPr txBox="1"/>
          <p:nvPr/>
        </p:nvSpPr>
        <p:spPr>
          <a:xfrm>
            <a:off x="777240" y="2944368"/>
            <a:ext cx="3108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JWT login with bcrypt hashing; users save, view and delete their own twins.</a:t>
            </a:r>
            <a:endParaRPr lang="en-US" sz="1400" dirty="0"/>
          </a:p>
        </p:txBody>
      </p:sp>
      <p:sp>
        <p:nvSpPr>
          <p:cNvPr id="10" name="Module card 2"/>
          <p:cNvSpPr/>
          <p:nvPr/>
        </p:nvSpPr>
        <p:spPr>
          <a:xfrm>
            <a:off x="4315968" y="1463040"/>
            <a:ext cx="3557016" cy="2331720"/>
          </a:xfrm>
          <a:prstGeom prst="roundRect">
            <a:avLst>
              <a:gd name="adj" fmla="val 5882"/>
            </a:avLst>
          </a:prstGeom>
          <a:solidFill>
            <a:schemeClr val="accent3">
              <a:alpha val="12000"/>
            </a:schemeClr>
          </a:solidFill>
          <a:ln w="9525">
            <a:solidFill>
              <a:schemeClr val="accent3">
                <a:alpha val="45000"/>
              </a:schemeClr>
            </a:solidFill>
            <a:prstDash val="solid"/>
          </a:ln>
        </p:spPr>
      </p:sp>
      <p:sp>
        <p:nvSpPr>
          <p:cNvPr id="11" name="Module icon bg 2"/>
          <p:cNvSpPr/>
          <p:nvPr/>
        </p:nvSpPr>
        <p:spPr>
          <a:xfrm>
            <a:off x="4544568" y="1664208"/>
            <a:ext cx="566928" cy="566928"/>
          </a:xfrm>
          <a:prstGeom prst="ellipse">
            <a:avLst/>
          </a:prstGeom>
          <a:solidFill>
            <a:schemeClr val="accent3"/>
          </a:solidFill>
          <a:ln/>
        </p:spPr>
      </p:sp>
      <p:pic>
        <p:nvPicPr>
          <p:cNvPr id="12" name="Module icon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81728" y="1801368"/>
            <a:ext cx="292608" cy="292608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5276088" y="1664208"/>
            <a:ext cx="2377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chemeClr val="accent3"/>
                </a:solidFill>
              </a:rPr>
              <a:t>MODULE 2</a:t>
            </a:r>
            <a:endParaRPr lang="en-US" sz="1300" dirty="0"/>
          </a:p>
        </p:txBody>
      </p:sp>
      <p:sp>
        <p:nvSpPr>
          <p:cNvPr id="14" name="Text 10"/>
          <p:cNvSpPr txBox="1"/>
          <p:nvPr/>
        </p:nvSpPr>
        <p:spPr>
          <a:xfrm>
            <a:off x="4544568" y="2359152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chemeClr val="tx1"/>
                </a:solidFill>
              </a:rPr>
              <a:t>Location-Based Twin Generation</a:t>
            </a:r>
            <a:endParaRPr lang="en-US" sz="1600" dirty="0"/>
          </a:p>
        </p:txBody>
      </p:sp>
      <p:sp>
        <p:nvSpPr>
          <p:cNvPr id="15" name="Text 11"/>
          <p:cNvSpPr txBox="1"/>
          <p:nvPr/>
        </p:nvSpPr>
        <p:spPr>
          <a:xfrm>
            <a:off x="4544568" y="2944368"/>
            <a:ext cx="3108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Turns an address or map click into a NetworkX graph of real gates, paths and roads.</a:t>
            </a:r>
            <a:endParaRPr lang="en-US" sz="1400" dirty="0"/>
          </a:p>
        </p:txBody>
      </p:sp>
      <p:sp>
        <p:nvSpPr>
          <p:cNvPr id="16" name="Module card 3"/>
          <p:cNvSpPr/>
          <p:nvPr/>
        </p:nvSpPr>
        <p:spPr>
          <a:xfrm>
            <a:off x="8083296" y="1463040"/>
            <a:ext cx="3557016" cy="2331720"/>
          </a:xfrm>
          <a:prstGeom prst="roundRect">
            <a:avLst>
              <a:gd name="adj" fmla="val 5882"/>
            </a:avLst>
          </a:prstGeom>
          <a:solidFill>
            <a:schemeClr val="accent4">
              <a:alpha val="12000"/>
            </a:schemeClr>
          </a:solidFill>
          <a:ln w="9525">
            <a:solidFill>
              <a:schemeClr val="accent4">
                <a:alpha val="45000"/>
              </a:schemeClr>
            </a:solidFill>
            <a:prstDash val="solid"/>
          </a:ln>
        </p:spPr>
      </p:sp>
      <p:sp>
        <p:nvSpPr>
          <p:cNvPr id="17" name="Module icon bg 3"/>
          <p:cNvSpPr/>
          <p:nvPr/>
        </p:nvSpPr>
        <p:spPr>
          <a:xfrm>
            <a:off x="8311896" y="1664208"/>
            <a:ext cx="566928" cy="566928"/>
          </a:xfrm>
          <a:prstGeom prst="ellipse">
            <a:avLst/>
          </a:prstGeom>
          <a:solidFill>
            <a:schemeClr val="accent4"/>
          </a:solidFill>
          <a:ln/>
        </p:spPr>
      </p:sp>
      <p:pic>
        <p:nvPicPr>
          <p:cNvPr id="18" name="Module icon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49056" y="1801368"/>
            <a:ext cx="292608" cy="292608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9043416" y="1664208"/>
            <a:ext cx="2377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chemeClr val="accent4"/>
                </a:solidFill>
              </a:rPr>
              <a:t>MODULE 3</a:t>
            </a:r>
            <a:endParaRPr lang="en-US" sz="1300" dirty="0"/>
          </a:p>
        </p:txBody>
      </p:sp>
      <p:sp>
        <p:nvSpPr>
          <p:cNvPr id="20" name="Text 15"/>
          <p:cNvSpPr txBox="1"/>
          <p:nvPr/>
        </p:nvSpPr>
        <p:spPr>
          <a:xfrm>
            <a:off x="8311896" y="2359152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chemeClr val="tx1"/>
                </a:solidFill>
              </a:rPr>
              <a:t>Capacity Estimation</a:t>
            </a:r>
            <a:endParaRPr lang="en-US" sz="1600" dirty="0"/>
          </a:p>
        </p:txBody>
      </p:sp>
      <p:sp>
        <p:nvSpPr>
          <p:cNvPr id="21" name="Text 16"/>
          <p:cNvSpPr txBox="1"/>
          <p:nvPr/>
        </p:nvSpPr>
        <p:spPr>
          <a:xfrm>
            <a:off x="8311896" y="2944368"/>
            <a:ext cx="3108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Polygon area plus OpenCV satellite analysis gives a comfortable / dense / danger range.</a:t>
            </a:r>
            <a:endParaRPr lang="en-US" sz="1400" dirty="0"/>
          </a:p>
        </p:txBody>
      </p:sp>
      <p:sp>
        <p:nvSpPr>
          <p:cNvPr id="22" name="Module card 4"/>
          <p:cNvSpPr/>
          <p:nvPr/>
        </p:nvSpPr>
        <p:spPr>
          <a:xfrm>
            <a:off x="548640" y="3977640"/>
            <a:ext cx="3557016" cy="2331720"/>
          </a:xfrm>
          <a:prstGeom prst="roundRect">
            <a:avLst>
              <a:gd name="adj" fmla="val 5882"/>
            </a:avLst>
          </a:prstGeom>
          <a:solidFill>
            <a:schemeClr val="accent5">
              <a:alpha val="12000"/>
            </a:schemeClr>
          </a:solidFill>
          <a:ln w="9525">
            <a:solidFill>
              <a:schemeClr val="accent5">
                <a:alpha val="45000"/>
              </a:schemeClr>
            </a:solidFill>
            <a:prstDash val="solid"/>
          </a:ln>
        </p:spPr>
      </p:sp>
      <p:sp>
        <p:nvSpPr>
          <p:cNvPr id="23" name="Module icon bg 4"/>
          <p:cNvSpPr/>
          <p:nvPr/>
        </p:nvSpPr>
        <p:spPr>
          <a:xfrm>
            <a:off x="777240" y="4178808"/>
            <a:ext cx="566928" cy="566928"/>
          </a:xfrm>
          <a:prstGeom prst="ellipse">
            <a:avLst/>
          </a:prstGeom>
          <a:solidFill>
            <a:schemeClr val="accent5"/>
          </a:solidFill>
          <a:ln/>
        </p:spPr>
      </p:sp>
      <p:pic>
        <p:nvPicPr>
          <p:cNvPr id="24" name="Module icon 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14400" y="4315968"/>
            <a:ext cx="292608" cy="292608"/>
          </a:xfrm>
          <a:prstGeom prst="rect">
            <a:avLst/>
          </a:prstGeom>
        </p:spPr>
      </p:pic>
      <p:sp>
        <p:nvSpPr>
          <p:cNvPr id="25" name="Text 19"/>
          <p:cNvSpPr txBox="1"/>
          <p:nvPr/>
        </p:nvSpPr>
        <p:spPr>
          <a:xfrm>
            <a:off x="1508760" y="4178808"/>
            <a:ext cx="2377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chemeClr val="accent5"/>
                </a:solidFill>
              </a:rPr>
              <a:t>MODULE 4</a:t>
            </a:r>
            <a:endParaRPr lang="en-US" sz="1300" dirty="0"/>
          </a:p>
        </p:txBody>
      </p:sp>
      <p:sp>
        <p:nvSpPr>
          <p:cNvPr id="26" name="Text 20"/>
          <p:cNvSpPr txBox="1"/>
          <p:nvPr/>
        </p:nvSpPr>
        <p:spPr>
          <a:xfrm>
            <a:off x="777240" y="4873752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chemeClr val="tx1"/>
                </a:solidFill>
              </a:rPr>
              <a:t>Multi-Agent Crowd Management</a:t>
            </a:r>
            <a:endParaRPr lang="en-US" sz="1600" dirty="0"/>
          </a:p>
        </p:txBody>
      </p:sp>
      <p:sp>
        <p:nvSpPr>
          <p:cNvPr id="27" name="Text 21"/>
          <p:cNvSpPr txBox="1"/>
          <p:nvPr/>
        </p:nvSpPr>
        <p:spPr>
          <a:xfrm>
            <a:off x="777240" y="5458968"/>
            <a:ext cx="3108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BDI agents perceive the twin; a utility Coordinator picks the best action plan.</a:t>
            </a:r>
            <a:endParaRPr lang="en-US" sz="1400" dirty="0"/>
          </a:p>
        </p:txBody>
      </p:sp>
      <p:sp>
        <p:nvSpPr>
          <p:cNvPr id="28" name="Module card 5"/>
          <p:cNvSpPr/>
          <p:nvPr/>
        </p:nvSpPr>
        <p:spPr>
          <a:xfrm>
            <a:off x="4315968" y="3977640"/>
            <a:ext cx="3557016" cy="2331720"/>
          </a:xfrm>
          <a:prstGeom prst="roundRect">
            <a:avLst>
              <a:gd name="adj" fmla="val 5882"/>
            </a:avLst>
          </a:prstGeom>
          <a:solidFill>
            <a:schemeClr val="accent6">
              <a:alpha val="12000"/>
            </a:schemeClr>
          </a:solidFill>
          <a:ln w="9525">
            <a:solidFill>
              <a:schemeClr val="accent6">
                <a:alpha val="45000"/>
              </a:schemeClr>
            </a:solidFill>
            <a:prstDash val="solid"/>
          </a:ln>
        </p:spPr>
      </p:sp>
      <p:sp>
        <p:nvSpPr>
          <p:cNvPr id="29" name="Module icon bg 5"/>
          <p:cNvSpPr/>
          <p:nvPr/>
        </p:nvSpPr>
        <p:spPr>
          <a:xfrm>
            <a:off x="4544568" y="4178808"/>
            <a:ext cx="566928" cy="566928"/>
          </a:xfrm>
          <a:prstGeom prst="ellipse">
            <a:avLst/>
          </a:prstGeom>
          <a:solidFill>
            <a:schemeClr val="accent6"/>
          </a:solidFill>
          <a:ln/>
        </p:spPr>
      </p:sp>
      <p:pic>
        <p:nvPicPr>
          <p:cNvPr id="30" name="Module icon 5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681728" y="4315968"/>
            <a:ext cx="292608" cy="292608"/>
          </a:xfrm>
          <a:prstGeom prst="rect">
            <a:avLst/>
          </a:prstGeom>
        </p:spPr>
      </p:pic>
      <p:sp>
        <p:nvSpPr>
          <p:cNvPr id="31" name="Text 24"/>
          <p:cNvSpPr txBox="1"/>
          <p:nvPr/>
        </p:nvSpPr>
        <p:spPr>
          <a:xfrm>
            <a:off x="5276088" y="4178808"/>
            <a:ext cx="2377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chemeClr val="accent6"/>
                </a:solidFill>
              </a:rPr>
              <a:t>MODULE 5</a:t>
            </a:r>
            <a:endParaRPr lang="en-US" sz="1300" dirty="0"/>
          </a:p>
        </p:txBody>
      </p:sp>
      <p:sp>
        <p:nvSpPr>
          <p:cNvPr id="32" name="Text 25"/>
          <p:cNvSpPr txBox="1"/>
          <p:nvPr/>
        </p:nvSpPr>
        <p:spPr>
          <a:xfrm>
            <a:off x="4544568" y="4873752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chemeClr val="tx1"/>
                </a:solidFill>
              </a:rPr>
              <a:t>Risk Analysis &amp; Emergency Response</a:t>
            </a:r>
            <a:endParaRPr lang="en-US" sz="1600" dirty="0"/>
          </a:p>
        </p:txBody>
      </p:sp>
      <p:sp>
        <p:nvSpPr>
          <p:cNvPr id="33" name="Text 26"/>
          <p:cNvSpPr txBox="1"/>
          <p:nvPr/>
        </p:nvSpPr>
        <p:spPr>
          <a:xfrm>
            <a:off x="4544568" y="5458968"/>
            <a:ext cx="3108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Flags bottlenecks, narrow paths and stairs; routes responders and ranks hospitals.</a:t>
            </a:r>
            <a:endParaRPr lang="en-US" sz="1400" dirty="0"/>
          </a:p>
        </p:txBody>
      </p:sp>
      <p:sp>
        <p:nvSpPr>
          <p:cNvPr id="34" name="Module card 6"/>
          <p:cNvSpPr/>
          <p:nvPr/>
        </p:nvSpPr>
        <p:spPr>
          <a:xfrm>
            <a:off x="8083296" y="3977640"/>
            <a:ext cx="3557016" cy="2331720"/>
          </a:xfrm>
          <a:prstGeom prst="roundRect">
            <a:avLst>
              <a:gd name="adj" fmla="val 5882"/>
            </a:avLst>
          </a:prstGeom>
          <a:solidFill>
            <a:schemeClr val="accent1">
              <a:alpha val="12000"/>
            </a:schemeClr>
          </a:solidFill>
          <a:ln w="9525">
            <a:solidFill>
              <a:schemeClr val="accent1">
                <a:alpha val="45000"/>
              </a:schemeClr>
            </a:solidFill>
            <a:prstDash val="solid"/>
          </a:ln>
        </p:spPr>
      </p:sp>
      <p:sp>
        <p:nvSpPr>
          <p:cNvPr id="35" name="Module icon bg 6"/>
          <p:cNvSpPr/>
          <p:nvPr/>
        </p:nvSpPr>
        <p:spPr>
          <a:xfrm>
            <a:off x="8311896" y="4178808"/>
            <a:ext cx="566928" cy="566928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36" name="Module icon 6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449056" y="4315968"/>
            <a:ext cx="292608" cy="292608"/>
          </a:xfrm>
          <a:prstGeom prst="rect">
            <a:avLst/>
          </a:prstGeom>
        </p:spPr>
      </p:pic>
      <p:sp>
        <p:nvSpPr>
          <p:cNvPr id="37" name="Text 29"/>
          <p:cNvSpPr txBox="1"/>
          <p:nvPr/>
        </p:nvSpPr>
        <p:spPr>
          <a:xfrm>
            <a:off x="9043416" y="4178808"/>
            <a:ext cx="2377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MODULE 6</a:t>
            </a:r>
            <a:endParaRPr lang="en-US" sz="1300" dirty="0"/>
          </a:p>
        </p:txBody>
      </p:sp>
      <p:sp>
        <p:nvSpPr>
          <p:cNvPr id="38" name="Text 30"/>
          <p:cNvSpPr txBox="1"/>
          <p:nvPr/>
        </p:nvSpPr>
        <p:spPr>
          <a:xfrm>
            <a:off x="8311896" y="4873752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chemeClr val="tx1"/>
                </a:solidFill>
              </a:rPr>
              <a:t>Simulation &amp; Visualization</a:t>
            </a:r>
            <a:endParaRPr lang="en-US" sz="1600" dirty="0"/>
          </a:p>
        </p:txBody>
      </p:sp>
      <p:sp>
        <p:nvSpPr>
          <p:cNvPr id="39" name="Text 31"/>
          <p:cNvSpPr txBox="1"/>
          <p:nvPr/>
        </p:nvSpPr>
        <p:spPr>
          <a:xfrm>
            <a:off x="8311896" y="5458968"/>
            <a:ext cx="3108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Tick-based live simulation on a Leaflet map with a readable agent-reasoning trace.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0DA814-0334-8E46-DB35-A6335BF3812D}"/>
              </a:ext>
            </a:extLst>
          </p:cNvPr>
          <p:cNvSpPr>
            <a:spLocks noGrp="1"/>
          </p:cNvSpPr>
          <p:nvPr>
            <p:ph type="title" idx="101"/>
          </p:nvPr>
        </p:nvSpPr>
        <p:spPr>
          <a:xfrm>
            <a:off x="1828800" y="320040"/>
            <a:ext cx="8531352" cy="716280"/>
          </a:xfrm>
        </p:spPr>
        <p:txBody>
          <a:bodyPr/>
          <a:lstStyle/>
          <a:p>
            <a:r>
              <a:rPr lang="en-US" dirty="0"/>
              <a:t>RESULTS</a:t>
            </a:r>
          </a:p>
        </p:txBody>
      </p:sp>
      <p:sp>
        <p:nvSpPr>
          <p:cNvPr id="3" name="Title frame">
            <a:extLst>
              <a:ext uri="{FF2B5EF4-FFF2-40B4-BE49-F238E27FC236}">
                <a16:creationId xmlns:a16="http://schemas.microsoft.com/office/drawing/2014/main" id="{B60D1D1C-4B37-F27A-7D8A-808F5114A10B}"/>
              </a:ext>
            </a:extLst>
          </p:cNvPr>
          <p:cNvSpPr/>
          <p:nvPr/>
        </p:nvSpPr>
        <p:spPr>
          <a:xfrm>
            <a:off x="1737360" y="274320"/>
            <a:ext cx="8714232" cy="690880"/>
          </a:xfrm>
          <a:prstGeom prst="roundRect">
            <a:avLst>
              <a:gd name="adj" fmla="val 25000"/>
            </a:avLst>
          </a:prstGeom>
          <a:ln w="12700">
            <a:solidFill>
              <a:schemeClr val="tx2"/>
            </a:solidFill>
            <a:prstDash val="solid"/>
          </a:ln>
        </p:spPr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5BFFC7C-34B1-F5FD-69B1-F919E9073A4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2088" y="1082040"/>
            <a:ext cx="10507823" cy="53390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229546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DF398459-1014-62E9-73C8-8A91FECE642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60270" y="122237"/>
            <a:ext cx="8724900" cy="923925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505AB120-B69A-0DAD-8AFE-CE6150CE8F72}"/>
              </a:ext>
            </a:extLst>
          </p:cNvPr>
          <p:cNvSpPr>
            <a:spLocks noGrp="1"/>
          </p:cNvSpPr>
          <p:nvPr>
            <p:ph type="title" idx="101"/>
          </p:nvPr>
        </p:nvSpPr>
        <p:spPr/>
        <p:txBody>
          <a:bodyPr/>
          <a:lstStyle/>
          <a:p>
            <a:r>
              <a:rPr lang="en-US" dirty="0"/>
              <a:t>RESULTS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199B548-E50A-96DB-D945-132DA2EC347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1360" y="1249680"/>
            <a:ext cx="10779760" cy="48120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3493964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7A9F0587-92AA-B42E-0F1F-80D22CDCF9F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48510" y="219075"/>
            <a:ext cx="8724900" cy="923925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3CFE9EF8-E467-0732-C58F-42857A719C39}"/>
              </a:ext>
            </a:extLst>
          </p:cNvPr>
          <p:cNvSpPr>
            <a:spLocks noGrp="1"/>
          </p:cNvSpPr>
          <p:nvPr>
            <p:ph type="title" idx="101"/>
          </p:nvPr>
        </p:nvSpPr>
        <p:spPr/>
        <p:txBody>
          <a:bodyPr/>
          <a:lstStyle/>
          <a:p>
            <a:r>
              <a:rPr lang="en-US" dirty="0"/>
              <a:t>RESULTS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E342A87-B7B6-4C3E-9F7B-69D5436E7D9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8480" y="1243964"/>
            <a:ext cx="11297920" cy="48177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556486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0E6EF329-57C9-F921-603D-5961F538839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0" y="219075"/>
            <a:ext cx="8724900" cy="923925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FA2F2E13-11E6-4C5B-62E5-AEC52CC4B468}"/>
              </a:ext>
            </a:extLst>
          </p:cNvPr>
          <p:cNvSpPr>
            <a:spLocks noGrp="1"/>
          </p:cNvSpPr>
          <p:nvPr>
            <p:ph type="title" idx="101"/>
          </p:nvPr>
        </p:nvSpPr>
        <p:spPr/>
        <p:txBody>
          <a:bodyPr/>
          <a:lstStyle/>
          <a:p>
            <a:r>
              <a:rPr lang="en-US" dirty="0"/>
              <a:t>RESULTS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DB71766-FA3F-DCE6-6E7C-46594ABA1D9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8960" y="1320800"/>
            <a:ext cx="11226800" cy="47675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822965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frame"/>
          <p:cNvSpPr/>
          <p:nvPr/>
        </p:nvSpPr>
        <p:spPr>
          <a:xfrm>
            <a:off x="1737360" y="274320"/>
            <a:ext cx="8714232" cy="914400"/>
          </a:xfrm>
          <a:prstGeom prst="roundRect">
            <a:avLst>
              <a:gd name="adj" fmla="val 25000"/>
            </a:avLst>
          </a:prstGeom>
          <a:ln w="12700">
            <a:solidFill>
              <a:schemeClr val="tx2"/>
            </a:solidFill>
            <a:prstDash val="solid"/>
          </a:ln>
        </p:spPr>
      </p:sp>
      <p:sp>
        <p:nvSpPr>
          <p:cNvPr id="3" name="Text 0"/>
          <p:cNvSpPr>
            <a:spLocks noGrp="1"/>
          </p:cNvSpPr>
          <p:nvPr>
            <p:ph type="title" idx="101" hasCustomPrompt="1"/>
          </p:nvPr>
        </p:nvSpPr>
        <p:spPr>
          <a:xfrm>
            <a:off x="1828800" y="320040"/>
            <a:ext cx="853135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dirty="0">
                <a:solidFill>
                  <a:schemeClr val="accent1"/>
                </a:solidFill>
              </a:rPr>
              <a:t>Conclusion &amp; Future Enhancements</a:t>
            </a:r>
            <a:endParaRPr lang="en-US" sz="3600" dirty="0"/>
          </a:p>
        </p:txBody>
      </p:sp>
      <p:sp>
        <p:nvSpPr>
          <p:cNvPr id="4" name="Conclusion card"/>
          <p:cNvSpPr/>
          <p:nvPr/>
        </p:nvSpPr>
        <p:spPr>
          <a:xfrm>
            <a:off x="548640" y="1463040"/>
            <a:ext cx="5486400" cy="4937760"/>
          </a:xfrm>
          <a:prstGeom prst="roundRect">
            <a:avLst>
              <a:gd name="adj" fmla="val 2778"/>
            </a:avLst>
          </a:prstGeom>
          <a:solidFill>
            <a:schemeClr val="accent5">
              <a:alpha val="12000"/>
            </a:schemeClr>
          </a:solidFill>
          <a:ln w="9525">
            <a:solidFill>
              <a:schemeClr val="accent5">
                <a:alpha val="45000"/>
              </a:schemeClr>
            </a:solidFill>
            <a:prstDash val="solid"/>
          </a:ln>
        </p:spPr>
      </p:sp>
      <p:pic>
        <p:nvPicPr>
          <p:cNvPr id="5" name="Conclusion icon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1645920"/>
            <a:ext cx="411480" cy="41148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325880" y="1645920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chemeClr val="accent5"/>
                </a:solidFill>
              </a:rPr>
              <a:t>Conclusion</a:t>
            </a:r>
            <a:endParaRPr lang="en-US" sz="2200" dirty="0"/>
          </a:p>
        </p:txBody>
      </p:sp>
      <p:sp>
        <p:nvSpPr>
          <p:cNvPr id="7" name="Text 4"/>
          <p:cNvSpPr txBox="1"/>
          <p:nvPr/>
        </p:nvSpPr>
        <p:spPr>
          <a:xfrm>
            <a:off x="777240" y="2286000"/>
            <a:ext cx="502920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One pipeline adapts to any real venue; it worked on three Tamil Nadu stadiums without venue-specific tuning.</a:t>
            </a:r>
            <a:endParaRPr lang="en-US" sz="1800" dirty="0"/>
          </a:p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Combines OpenStreetMap data, image-based capacity, BDI agents, a utility Coordinator, Dijkstra / A* and CSP.</a:t>
            </a:r>
            <a:endParaRPr lang="en-US" sz="1800" dirty="0"/>
          </a:p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Fully explainable: no ML or DL, every decision is a visible rule, score or search.</a:t>
            </a:r>
            <a:endParaRPr lang="en-US" sz="1800" dirty="0"/>
          </a:p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Agent rerouting measurably lowered evacuation time and peak density against an unmanaged baseline.</a:t>
            </a:r>
            <a:endParaRPr lang="en-US" sz="1800" dirty="0"/>
          </a:p>
        </p:txBody>
      </p:sp>
      <p:sp>
        <p:nvSpPr>
          <p:cNvPr id="8" name="Future card"/>
          <p:cNvSpPr/>
          <p:nvPr/>
        </p:nvSpPr>
        <p:spPr>
          <a:xfrm>
            <a:off x="6172200" y="1463040"/>
            <a:ext cx="5486400" cy="4937760"/>
          </a:xfrm>
          <a:prstGeom prst="roundRect">
            <a:avLst>
              <a:gd name="adj" fmla="val 2778"/>
            </a:avLst>
          </a:prstGeom>
          <a:solidFill>
            <a:schemeClr val="accent3">
              <a:alpha val="12000"/>
            </a:schemeClr>
          </a:solidFill>
          <a:ln w="9525">
            <a:solidFill>
              <a:schemeClr val="accent3">
                <a:alpha val="45000"/>
              </a:schemeClr>
            </a:solidFill>
            <a:prstDash val="solid"/>
          </a:ln>
        </p:spPr>
      </p:sp>
      <p:pic>
        <p:nvPicPr>
          <p:cNvPr id="9" name="Future icon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0" y="1645920"/>
            <a:ext cx="411480" cy="411480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6949440" y="1645920"/>
            <a:ext cx="4480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chemeClr val="accent3"/>
                </a:solidFill>
              </a:rPr>
              <a:t>Future Enhancements</a:t>
            </a:r>
            <a:endParaRPr lang="en-US" sz="2200" dirty="0"/>
          </a:p>
        </p:txBody>
      </p:sp>
      <p:sp>
        <p:nvSpPr>
          <p:cNvPr id="11" name="Text 7"/>
          <p:cNvSpPr txBox="1"/>
          <p:nvPr/>
        </p:nvSpPr>
        <p:spPr>
          <a:xfrm>
            <a:off x="6400800" y="2286000"/>
            <a:ext cx="502920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Transparent, non-ML demand forecasting from holiday, festival and weather data.</a:t>
            </a:r>
            <a:endParaRPr lang="en-US" sz="1800" dirty="0"/>
          </a:p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Visitor-facing SMS / app notifications.</a:t>
            </a:r>
            <a:endParaRPr lang="en-US" sz="1800" dirty="0"/>
          </a:p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Live road-traffic integration for responder routing.</a:t>
            </a:r>
            <a:endParaRPr lang="en-US" sz="1800" dirty="0"/>
          </a:p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Validation against publicly reported real-world congestion incidents.</a:t>
            </a:r>
            <a:endParaRPr lang="en-US" sz="1800" dirty="0"/>
          </a:p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Negotiation-based coordination between agents with competing goals (e.g. Route vs Parking Agent).</a:t>
            </a:r>
            <a:endParaRPr lang="en-US" sz="1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frame"/>
          <p:cNvSpPr/>
          <p:nvPr/>
        </p:nvSpPr>
        <p:spPr>
          <a:xfrm>
            <a:off x="1737360" y="274320"/>
            <a:ext cx="8714232" cy="914400"/>
          </a:xfrm>
          <a:prstGeom prst="roundRect">
            <a:avLst>
              <a:gd name="adj" fmla="val 25000"/>
            </a:avLst>
          </a:prstGeom>
          <a:ln w="12700">
            <a:solidFill>
              <a:schemeClr val="tx2"/>
            </a:solidFill>
            <a:prstDash val="solid"/>
          </a:ln>
        </p:spPr>
      </p:sp>
      <p:sp>
        <p:nvSpPr>
          <p:cNvPr id="3" name="Text 0"/>
          <p:cNvSpPr>
            <a:spLocks noGrp="1"/>
          </p:cNvSpPr>
          <p:nvPr>
            <p:ph type="title" idx="101" hasCustomPrompt="1"/>
          </p:nvPr>
        </p:nvSpPr>
        <p:spPr>
          <a:xfrm>
            <a:off x="1828800" y="320040"/>
            <a:ext cx="853135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dirty="0">
                <a:solidFill>
                  <a:schemeClr val="accent1"/>
                </a:solidFill>
              </a:rPr>
              <a:t>References</a:t>
            </a:r>
            <a:endParaRPr lang="en-US" sz="3600" dirty="0"/>
          </a:p>
        </p:txBody>
      </p:sp>
      <p:sp>
        <p:nvSpPr>
          <p:cNvPr id="4" name="References left"/>
          <p:cNvSpPr/>
          <p:nvPr/>
        </p:nvSpPr>
        <p:spPr>
          <a:xfrm>
            <a:off x="548640" y="1463040"/>
            <a:ext cx="5486400" cy="4937760"/>
          </a:xfrm>
          <a:prstGeom prst="roundRect">
            <a:avLst>
              <a:gd name="adj" fmla="val 2778"/>
            </a:avLst>
          </a:prstGeom>
          <a:solidFill>
            <a:schemeClr val="accent2">
              <a:alpha val="12000"/>
            </a:schemeClr>
          </a:solidFill>
          <a:ln w="9525">
            <a:solidFill>
              <a:schemeClr val="accent2">
                <a:alpha val="45000"/>
              </a:schemeClr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31520" y="1600200"/>
            <a:ext cx="5120640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800"/>
              </a:spcAft>
              <a:buNone/>
            </a:pPr>
            <a:r>
              <a:rPr lang="en-US" sz="1300" dirty="0">
                <a:solidFill>
                  <a:schemeClr val="tx1"/>
                </a:solidFill>
              </a:rPr>
              <a:t>1.  Li, X. et al. (2021) 'Data Fusion for Intelligent Crowd Monitoring and Management Systems: A Survey', IEEE Access, Vol. 9.</a:t>
            </a:r>
            <a:endParaRPr lang="en-US" sz="130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300" dirty="0">
                <a:solidFill>
                  <a:schemeClr val="tx1"/>
                </a:solidFill>
              </a:rPr>
              <a:t>2.  Noor, T.H. (2023) 'Behavior Analysis-Based IoT Services for Crowd Management', The Computer Journal, 66(9), pp. 2208-2220.</a:t>
            </a:r>
            <a:endParaRPr lang="en-US" sz="130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300" dirty="0">
                <a:solidFill>
                  <a:schemeClr val="tx1"/>
                </a:solidFill>
              </a:rPr>
              <a:t>3.  Li, S. (2022) 'Development of Intelligent Sports Stadium System Based on Internet of Things Technology', Proc. CTMCD 2022.</a:t>
            </a:r>
            <a:endParaRPr lang="en-US" sz="130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300" dirty="0">
                <a:solidFill>
                  <a:schemeClr val="tx1"/>
                </a:solidFill>
              </a:rPr>
              <a:t>4.  Mu, M. (2023) 'Network as a Sensor for Smart Crowd Analysis and Service Improvement', IEEE Network, 37(2), pp. 144-152.</a:t>
            </a:r>
            <a:endParaRPr lang="en-US" sz="130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300" dirty="0">
                <a:solidFill>
                  <a:schemeClr val="tx1"/>
                </a:solidFill>
              </a:rPr>
              <a:t>5.  Zhong, J. et al. (2024) 'Intelligent Airport Crowd Management Technology Based on Digital Twin', J. System Simulation, 36(1), pp. 27-38.</a:t>
            </a:r>
            <a:endParaRPr lang="en-US" sz="130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300" dirty="0">
                <a:solidFill>
                  <a:schemeClr val="tx1"/>
                </a:solidFill>
              </a:rPr>
              <a:t>6.  Yasufuku, K. and Takahashi, A. (2024) 'Development of a Real-Time Crowd Flow Prediction and Visualization Platform for Crowd Management', J. Disaster Research, 19(2), pp. 248-255.</a:t>
            </a:r>
            <a:endParaRPr lang="en-US" sz="130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300" dirty="0">
                <a:solidFill>
                  <a:schemeClr val="tx1"/>
                </a:solidFill>
              </a:rPr>
              <a:t>7.  Meng, D., Hu, Z. and Zhang, H. (2022) 'Simulation of Multi-layer Ship Evacuation System Based on Improved A* Algorithm', J. System Simulation, 34(6), pp. 1375-1382.</a:t>
            </a:r>
            <a:endParaRPr lang="en-US" sz="130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300" dirty="0">
                <a:solidFill>
                  <a:schemeClr val="tx1"/>
                </a:solidFill>
              </a:rPr>
              <a:t>8.  Golubić, I. (2023) 'Mathematical Evacuation Planning: Graph Theory and Optimization Approaches', DKU Journal, Veleučilište Velika Gorica.</a:t>
            </a:r>
            <a:endParaRPr lang="en-US" sz="1300" dirty="0"/>
          </a:p>
        </p:txBody>
      </p:sp>
      <p:sp>
        <p:nvSpPr>
          <p:cNvPr id="6" name="References right"/>
          <p:cNvSpPr/>
          <p:nvPr/>
        </p:nvSpPr>
        <p:spPr>
          <a:xfrm>
            <a:off x="6172200" y="1463040"/>
            <a:ext cx="5486400" cy="4937760"/>
          </a:xfrm>
          <a:prstGeom prst="roundRect">
            <a:avLst>
              <a:gd name="adj" fmla="val 2778"/>
            </a:avLst>
          </a:prstGeom>
          <a:solidFill>
            <a:schemeClr val="accent2">
              <a:alpha val="12000"/>
            </a:schemeClr>
          </a:solidFill>
          <a:ln w="9525">
            <a:solidFill>
              <a:schemeClr val="accent2">
                <a:alpha val="45000"/>
              </a:schemeClr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355080" y="1600200"/>
            <a:ext cx="5120640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800"/>
              </a:spcAft>
              <a:buNone/>
            </a:pPr>
            <a:r>
              <a:rPr lang="en-US" sz="1300" dirty="0">
                <a:solidFill>
                  <a:schemeClr val="tx1"/>
                </a:solidFill>
              </a:rPr>
              <a:t>9.  Dinh Thi Hong Huyen et al. (2023) 'Solving Optimization Problems in Emergency Evacuation', J. Science and Technology, Univ. of Danang, 6.2.</a:t>
            </a:r>
            <a:endParaRPr lang="en-US" sz="130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300" dirty="0">
                <a:solidFill>
                  <a:schemeClr val="tx1"/>
                </a:solidFill>
              </a:rPr>
              <a:t>10.  Chen, J. and Zhang, D. (2025) 'Design of IoT-Based Crowd Flow Monitoring System for Smart Sports Venues', Advances in Transdisciplinary Engineering, 70.</a:t>
            </a:r>
            <a:endParaRPr lang="en-US" sz="130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300" dirty="0">
                <a:solidFill>
                  <a:schemeClr val="tx1"/>
                </a:solidFill>
              </a:rPr>
              <a:t>11.  Dijkstra, E.W. (1959) 'A note on two problems in connexion with graphs', Numerische Mathematik, 1, pp. 269-271.</a:t>
            </a:r>
            <a:endParaRPr lang="en-US" sz="130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300" dirty="0">
                <a:solidFill>
                  <a:schemeClr val="tx1"/>
                </a:solidFill>
              </a:rPr>
              <a:t>12.  Rao, A.S. and Georgeff, M.P. (1995) 'BDI Agents: From Theory to Practice', Proc. ICMAS-95.</a:t>
            </a:r>
            <a:endParaRPr lang="en-US" sz="130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300" dirty="0">
                <a:solidFill>
                  <a:schemeClr val="tx1"/>
                </a:solidFill>
              </a:rPr>
              <a:t>13.  Russell, S. and Norvig, P. (2021) Artificial Intelligence: A Modern Approach, 4th edn, Pearson.</a:t>
            </a:r>
            <a:endParaRPr lang="en-US" sz="130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300" dirty="0">
                <a:solidFill>
                  <a:schemeClr val="tx1"/>
                </a:solidFill>
              </a:rPr>
              <a:t>14.  OpenStreetMap contributors (2024) OpenStreetMap, openstreetmap.org (accessed 2026).</a:t>
            </a:r>
            <a:endParaRPr lang="en-US" sz="130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300" dirty="0">
                <a:solidFill>
                  <a:schemeClr val="tx1"/>
                </a:solidFill>
              </a:rPr>
              <a:t>15.  Hagberg, A., Swart, P. and Chult, D.S. (2008) 'Exploring network structure, dynamics, and function using NetworkX', SciPy 2008, pp. 11-15.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FlowGuard Sky">
  <a:themeElements>
    <a:clrScheme name="FlowGuard Sky">
      <a:dk1>
        <a:srgbClr val="14284B"/>
      </a:dk1>
      <a:lt1>
        <a:srgbClr val="FFFFFF"/>
      </a:lt1>
      <a:dk2>
        <a:srgbClr val="1F3A6E"/>
      </a:dk2>
      <a:lt2>
        <a:srgbClr val="E3F0FC"/>
      </a:lt2>
      <a:accent1>
        <a:srgbClr val="1A6BE0"/>
      </a:accent1>
      <a:accent2>
        <a:srgbClr val="2B6AA8"/>
      </a:accent2>
      <a:accent3>
        <a:srgbClr val="8E7CE3"/>
      </a:accent3>
      <a:accent4>
        <a:srgbClr val="B77A12"/>
      </a:accent4>
      <a:accent5>
        <a:srgbClr val="12A87A"/>
      </a:accent5>
      <a:accent6>
        <a:srgbClr val="D6338A"/>
      </a:accent6>
      <a:hlink>
        <a:srgbClr val="1A6BE0"/>
      </a:hlink>
      <a:folHlink>
        <a:srgbClr val="8E7CE3"/>
      </a:folHlink>
    </a:clrScheme>
    <a:fontScheme name="FlowGuard Sky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35</TotalTime>
  <Words>1497</Words>
  <Application>Microsoft Office PowerPoint</Application>
  <PresentationFormat>Widescreen</PresentationFormat>
  <Paragraphs>167</Paragraphs>
  <Slides>13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FlowGuard Sky</vt:lpstr>
      <vt:lpstr>PowerPoint Presentation</vt:lpstr>
      <vt:lpstr>Problem Statement &amp; Abstract</vt:lpstr>
      <vt:lpstr>Literature Survey</vt:lpstr>
      <vt:lpstr>Literature Survey</vt:lpstr>
      <vt:lpstr>SYSTEM ARCHITECTURE</vt:lpstr>
      <vt:lpstr>Implementation</vt:lpstr>
      <vt:lpstr>Modules</vt:lpstr>
      <vt:lpstr>RESULTS</vt:lpstr>
      <vt:lpstr>RESULTS</vt:lpstr>
      <vt:lpstr>RESULTS</vt:lpstr>
      <vt:lpstr>RESULTS</vt:lpstr>
      <vt:lpstr>Conclusion &amp; Future Enhancements</vt:lpstr>
      <vt:lpstr>References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FlowGuard - Multi-Agent Digital Twin for Crowd Management</dc:title>
  <dc:subject>PptxGenJS Presentation</dc:subject>
  <dc:creator>Manisha M, Mathu Methaa K</dc:creator>
  <cp:lastModifiedBy>Mahesh waran</cp:lastModifiedBy>
  <cp:revision>1</cp:revision>
  <dcterms:created xsi:type="dcterms:W3CDTF">2026-10-08T01:07:30Z</dcterms:created>
  <dcterms:modified xsi:type="dcterms:W3CDTF">2026-10-08T07:19:17Z</dcterms:modified>
</cp:coreProperties>
</file>